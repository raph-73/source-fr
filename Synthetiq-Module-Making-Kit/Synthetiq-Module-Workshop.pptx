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74f574f92c497d" /><Relationship Type="http://schemas.openxmlformats.org/officeDocument/2006/relationships/extended-properties" Target="/docProps/app.xml" Id="R32e784a169a94c3a" /><Relationship Type="http://schemas.openxmlformats.org/officeDocument/2006/relationships/officeDocument" Target="/ppt/presentation.xml" Id="R974f6f6a06844f8e" /></Relationships>
</file>

<file path=ppt/presentation.xml><?xml version="1.0" encoding="utf-8"?>
<p:presentation xmlns:p="http://schemas.openxmlformats.org/presentationml/2006/main">
  <p:sldMasterIdLst>
    <p:sldMasterId xmlns:r="http://schemas.openxmlformats.org/officeDocument/2006/relationships" id="2147483648" r:id="R7b1c0118f3d845c8"/>
  </p:sldMasterIdLst>
  <p:notesMasterIdLst>
    <p:notesMasterId xmlns:r="http://schemas.openxmlformats.org/officeDocument/2006/relationships" r:id="R0b721ec547564fce"/>
  </p:notesMasterIdLst>
  <p:sldIdLst>
    <p:sldId xmlns:r="http://schemas.openxmlformats.org/officeDocument/2006/relationships" id="256" r:id="R2dde66b08d0c4691"/>
    <p:sldId xmlns:r="http://schemas.openxmlformats.org/officeDocument/2006/relationships" id="257" r:id="Reeeab26285ae4c07"/>
    <p:sldId xmlns:r="http://schemas.openxmlformats.org/officeDocument/2006/relationships" id="258" r:id="Rebdd562ee5c54ac7"/>
    <p:sldId xmlns:r="http://schemas.openxmlformats.org/officeDocument/2006/relationships" id="259" r:id="R66e578e413e64eae"/>
    <p:sldId xmlns:r="http://schemas.openxmlformats.org/officeDocument/2006/relationships" id="260" r:id="R224cc0d210f64b20"/>
    <p:sldId xmlns:r="http://schemas.openxmlformats.org/officeDocument/2006/relationships" id="261" r:id="R2c39723ba76c4424"/>
    <p:sldId xmlns:r="http://schemas.openxmlformats.org/officeDocument/2006/relationships" id="262" r:id="R5952e15ba3f44ac9"/>
    <p:sldId xmlns:r="http://schemas.openxmlformats.org/officeDocument/2006/relationships" id="263" r:id="Rdcdc5a56a155480f"/>
    <p:sldId xmlns:r="http://schemas.openxmlformats.org/officeDocument/2006/relationships" id="264" r:id="R3e25d2044b6e4f80"/>
    <p:sldId xmlns:r="http://schemas.openxmlformats.org/officeDocument/2006/relationships" id="265" r:id="R4ac728074f7d4661"/>
    <p:sldId xmlns:r="http://schemas.openxmlformats.org/officeDocument/2006/relationships" id="266" r:id="Ref56f75d48634494"/>
    <p:sldId xmlns:r="http://schemas.openxmlformats.org/officeDocument/2006/relationships" id="267" r:id="R9184c0123c054d78"/>
    <p:sldId xmlns:r="http://schemas.openxmlformats.org/officeDocument/2006/relationships" id="268" r:id="R999f1ff022cd4c10"/>
    <p:sldId xmlns:r="http://schemas.openxmlformats.org/officeDocument/2006/relationships" id="269" r:id="Ra8564e1eba2e4c89"/>
    <p:sldId xmlns:r="http://schemas.openxmlformats.org/officeDocument/2006/relationships" id="270" r:id="R60535eaf224c41bc"/>
    <p:sldId xmlns:r="http://schemas.openxmlformats.org/officeDocument/2006/relationships" id="271" r:id="R5588fc1732a8482c"/>
    <p:sldId xmlns:r="http://schemas.openxmlformats.org/officeDocument/2006/relationships" id="272" r:id="R016f3fb225b74d92"/>
    <p:sldId xmlns:r="http://schemas.openxmlformats.org/officeDocument/2006/relationships" id="273" r:id="R1de1f796f0fe4961"/>
    <p:sldId xmlns:r="http://schemas.openxmlformats.org/officeDocument/2006/relationships" id="274" r:id="R705cb1f6967d46e6"/>
    <p:sldId xmlns:r="http://schemas.openxmlformats.org/officeDocument/2006/relationships" id="275" r:id="R645e404e2d3a4204"/>
    <p:sldId xmlns:r="http://schemas.openxmlformats.org/officeDocument/2006/relationships" id="276" r:id="R58a7199d28204fc2"/>
    <p:sldId xmlns:r="http://schemas.openxmlformats.org/officeDocument/2006/relationships" id="277" r:id="Rd8e6ece275a949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902e6da23b4f5e" /><Relationship Type="http://schemas.openxmlformats.org/officeDocument/2006/relationships/slideMaster" Target="/ppt/slideMasters/slideMaster1.xml" Id="R7b1c0118f3d845c8" /><Relationship Type="http://schemas.openxmlformats.org/officeDocument/2006/relationships/notesMaster" Target="/ppt/notesMasters/notesMaster1.xml" Id="R0b721ec547564fce" /><Relationship Type="http://schemas.openxmlformats.org/officeDocument/2006/relationships/presProps" Target="/ppt/presProps.xml" Id="R9fd77e7a2f754a9a" /><Relationship Type="http://schemas.openxmlformats.org/officeDocument/2006/relationships/tableStyles" Target="/ppt/tableStyles.xml" Id="Rae804569ae8d4d65" /><Relationship Type="http://schemas.openxmlformats.org/officeDocument/2006/relationships/slide" Target="/ppt/slides/slide1.xml" Id="R2dde66b08d0c4691" /><Relationship Type="http://schemas.openxmlformats.org/officeDocument/2006/relationships/slide" Target="/ppt/slides/slide2.xml" Id="Reeeab26285ae4c07" /><Relationship Type="http://schemas.openxmlformats.org/officeDocument/2006/relationships/slide" Target="/ppt/slides/slide3.xml" Id="Rebdd562ee5c54ac7" /><Relationship Type="http://schemas.openxmlformats.org/officeDocument/2006/relationships/slide" Target="/ppt/slides/slide4.xml" Id="R66e578e413e64eae" /><Relationship Type="http://schemas.openxmlformats.org/officeDocument/2006/relationships/slide" Target="/ppt/slides/slide5.xml" Id="R224cc0d210f64b20" /><Relationship Type="http://schemas.openxmlformats.org/officeDocument/2006/relationships/slide" Target="/ppt/slides/slide6.xml" Id="R2c39723ba76c4424" /><Relationship Type="http://schemas.openxmlformats.org/officeDocument/2006/relationships/slide" Target="/ppt/slides/slide7.xml" Id="R5952e15ba3f44ac9" /><Relationship Type="http://schemas.openxmlformats.org/officeDocument/2006/relationships/slide" Target="/ppt/slides/slide8.xml" Id="Rdcdc5a56a155480f" /><Relationship Type="http://schemas.openxmlformats.org/officeDocument/2006/relationships/slide" Target="/ppt/slides/slide9.xml" Id="R3e25d2044b6e4f80" /><Relationship Type="http://schemas.openxmlformats.org/officeDocument/2006/relationships/slide" Target="/ppt/slides/slide10.xml" Id="R4ac728074f7d4661" /><Relationship Type="http://schemas.openxmlformats.org/officeDocument/2006/relationships/slide" Target="/ppt/slides/slide11.xml" Id="Ref56f75d48634494" /><Relationship Type="http://schemas.openxmlformats.org/officeDocument/2006/relationships/slide" Target="/ppt/slides/slide12.xml" Id="R9184c0123c054d78" /><Relationship Type="http://schemas.openxmlformats.org/officeDocument/2006/relationships/slide" Target="/ppt/slides/slide13.xml" Id="R999f1ff022cd4c10" /><Relationship Type="http://schemas.openxmlformats.org/officeDocument/2006/relationships/slide" Target="/ppt/slides/slide14.xml" Id="Ra8564e1eba2e4c89" /><Relationship Type="http://schemas.openxmlformats.org/officeDocument/2006/relationships/slide" Target="/ppt/slides/slide15.xml" Id="R60535eaf224c41bc" /><Relationship Type="http://schemas.openxmlformats.org/officeDocument/2006/relationships/slide" Target="/ppt/slides/slide16.xml" Id="R5588fc1732a8482c" /><Relationship Type="http://schemas.openxmlformats.org/officeDocument/2006/relationships/slide" Target="/ppt/slides/slide17.xml" Id="R016f3fb225b74d92" /><Relationship Type="http://schemas.openxmlformats.org/officeDocument/2006/relationships/slide" Target="/ppt/slides/slide18.xml" Id="R1de1f796f0fe4961" /><Relationship Type="http://schemas.openxmlformats.org/officeDocument/2006/relationships/slide" Target="/ppt/slides/slide19.xml" Id="R705cb1f6967d46e6" /><Relationship Type="http://schemas.openxmlformats.org/officeDocument/2006/relationships/slide" Target="/ppt/slides/slide20.xml" Id="R645e404e2d3a4204" /><Relationship Type="http://schemas.openxmlformats.org/officeDocument/2006/relationships/slide" Target="/ppt/slides/slide21.xml" Id="R58a7199d28204fc2" /><Relationship Type="http://schemas.openxmlformats.org/officeDocument/2006/relationships/slide" Target="/ppt/slides/slide22.xml" Id="Rd8e6ece275a949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4a97a5c9324d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62c1d339024e8d" /><Relationship Type="http://schemas.openxmlformats.org/officeDocument/2006/relationships/notesMaster" Target="/ppt/notesMasters/notesMaster1.xml" Id="R9f08802a2e6447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083bebcaf3454b" /><Relationship Type="http://schemas.openxmlformats.org/officeDocument/2006/relationships/notesMaster" Target="/ppt/notesMasters/notesMaster1.xml" Id="R33ea155f506d43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cdee51a3844592" /><Relationship Type="http://schemas.openxmlformats.org/officeDocument/2006/relationships/notesMaster" Target="/ppt/notesMasters/notesMaster1.xml" Id="Re08dede7574d47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3674aa41c14fe2" /><Relationship Type="http://schemas.openxmlformats.org/officeDocument/2006/relationships/notesMaster" Target="/ppt/notesMasters/notesMaster1.xml" Id="Ra766dd3dacd14f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58e56373d64039" /><Relationship Type="http://schemas.openxmlformats.org/officeDocument/2006/relationships/notesMaster" Target="/ppt/notesMasters/notesMaster1.xml" Id="Re3ed7539d5804b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1281c4a1d14e88" /><Relationship Type="http://schemas.openxmlformats.org/officeDocument/2006/relationships/notesMaster" Target="/ppt/notesMasters/notesMaster1.xml" Id="Rc5cc7b3f9ac146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031402238644f2" /><Relationship Type="http://schemas.openxmlformats.org/officeDocument/2006/relationships/notesMaster" Target="/ppt/notesMasters/notesMaster1.xml" Id="R097db09fa15344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25e8da38734d6f" /><Relationship Type="http://schemas.openxmlformats.org/officeDocument/2006/relationships/notesMaster" Target="/ppt/notesMasters/notesMaster1.xml" Id="R297b96181d5e4b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118b5609f841d5" /><Relationship Type="http://schemas.openxmlformats.org/officeDocument/2006/relationships/notesMaster" Target="/ppt/notesMasters/notesMaster1.xml" Id="Rf16b8132b19940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1a65ead9fe4cd4" /><Relationship Type="http://schemas.openxmlformats.org/officeDocument/2006/relationships/notesMaster" Target="/ppt/notesMasters/notesMaster1.xml" Id="Rf08e19ec9de945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02f703dca64df5" /><Relationship Type="http://schemas.openxmlformats.org/officeDocument/2006/relationships/notesMaster" Target="/ppt/notesMasters/notesMaster1.xml" Id="R35f71ce2c85849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6554ee775d40a5" /><Relationship Type="http://schemas.openxmlformats.org/officeDocument/2006/relationships/notesMaster" Target="/ppt/notesMasters/notesMaster1.xml" Id="R9c9ae3aabe4541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e200c5ee624e1b" /><Relationship Type="http://schemas.openxmlformats.org/officeDocument/2006/relationships/notesMaster" Target="/ppt/notesMasters/notesMaster1.xml" Id="R6d1bc41ac9bd42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37a038ac74e4d0a" /><Relationship Type="http://schemas.openxmlformats.org/officeDocument/2006/relationships/notesMaster" Target="/ppt/notesMasters/notesMaster1.xml" Id="R606f21af384145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dd0d04ffa8414f" /><Relationship Type="http://schemas.openxmlformats.org/officeDocument/2006/relationships/notesMaster" Target="/ppt/notesMasters/notesMaster1.xml" Id="R80ebdcd9c9e3444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67d8a9970c450b" /><Relationship Type="http://schemas.openxmlformats.org/officeDocument/2006/relationships/notesMaster" Target="/ppt/notesMasters/notesMaster1.xml" Id="R208b624e525546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4441de5557b4e42" /><Relationship Type="http://schemas.openxmlformats.org/officeDocument/2006/relationships/notesMaster" Target="/ppt/notesMasters/notesMaster1.xml" Id="R886ca6793ffc498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110a4bc081f4f2c" /><Relationship Type="http://schemas.openxmlformats.org/officeDocument/2006/relationships/notesMaster" Target="/ppt/notesMasters/notesMaster1.xml" Id="Rae57f02e17184a1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683545084d49e2" /><Relationship Type="http://schemas.openxmlformats.org/officeDocument/2006/relationships/notesMaster" Target="/ppt/notesMasters/notesMaster1.xml" Id="R796735e4b506409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1580bddc5a04b81" /><Relationship Type="http://schemas.openxmlformats.org/officeDocument/2006/relationships/notesMaster" Target="/ppt/notesMasters/notesMaster1.xml" Id="R50987546a3284d7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1298f1beed04606" /><Relationship Type="http://schemas.openxmlformats.org/officeDocument/2006/relationships/notesMaster" Target="/ppt/notesMasters/notesMaster1.xml" Id="Rdfa7fec4a032475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06af1a41fc14402" /><Relationship Type="http://schemas.openxmlformats.org/officeDocument/2006/relationships/notesMaster" Target="/ppt/notesMasters/notesMaster1.xml" Id="Rb7cb1a6b161940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Beginner workshop. Explain that participants can use any one of the three agents. The deliverable is a tested beta module, not an app rebuild. Brand asset: official Synthetiq logo from local synthetic-logo skill assets.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approximately 45 to 60 minutes for teaching and a small authorized-source exercise. Complex sources need more time. The kit contains incomplete templates, so do not promise a working integration within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 reference/MODULE_CONTRACT.md, verified identical to local app docs/modules/MODULE_CONTRACT.md on 2026-09-17. Additional source: reference/VIDEO_MODULE_BLUEPRINT.md.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 reference/MODULE_CONTRACT.md, verified identical to local app docs/modules/MODULE_CONTRACT.md on 2026-09-17. Additional source: reference/VIDEO_MODULE_BLUEPRINT.md.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 reference/MODULE_CONTRACT.md, verified identical to local app docs/modules/MODULE_CONTRACT.md on 2026-09-17. Additional source: reference/VIDEO_MODULE_BLUEPRINT.md.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 reference/MODULE_CONTRACT.md, verified identical to local app docs/modules/MODULE_CONTRACT.md on 2026-09-17. Additional source: reference/VIDEO_MODULE_BLUEPRINT.md.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participants to locate each path in their extracted folder. Keep examples unchanged as references. The full app, S2 and official identity/signing assets are not distributed in this kit.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setup references checked 2026-09-17: https://github.com/openai/codex ; https://developers.openai.com/codex/cli/ ; https://opencode.ai/docs/ ; https://hermes-agent.nousresearch.com/docs/getting-started/installation ; https://hermes-agent.nousresearch.com/docs/getting-started/quickstart .</a:t>
            </a:r>
          </a:p>
          <a:p xmlns:a="http://schemas.openxmlformats.org/drawingml/2006/main">
            <a:r>
              <a:t>Use docs/07-agent-setup.md. Keep credentials outside the workshop. Model access and costs are separate from the kit.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setup references checked 2026-09-17: https://github.com/openai/codex ; https://developers.openai.com/codex/cli/ ; https://opencode.ai/docs/ ; https://hermes-agent.nousresearch.com/docs/getting-started/installation ; https://hermes-agent.nousresearch.com/docs/getting-started/quickstart .</a:t>
            </a:r>
          </a:p>
          <a:p xmlns:a="http://schemas.openxmlformats.org/drawingml/2006/main">
            <a:r>
              <a:t>CLI installation is npm install -g @openai/codex. The desktop alternative is to open the extracted kit as a project. After sign-in, give SYSTEM_PROMPT.md as task context and ask for research first. Review edits and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setup references checked 2026-09-17: https://github.com/openai/codex ; https://developers.openai.com/codex/cli/ ; https://opencode.ai/docs/ ; https://hermes-agent.nousresearch.com/docs/getting-started/installation ; https://hermes-agent.nousresearch.com/docs/getting-started/quickstart .</a:t>
            </a:r>
          </a:p>
          <a:p xmlns:a="http://schemas.openxmlformats.org/drawingml/2006/main">
            <a:r>
              <a:t>Use /connect for the provider. The kit already includes AGENTS.md; do not overwrite it blindly with /init. Use the current Plan/Build controls documented by OpenCode. Windows users can follow native or WSL setup.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setup references checked 2026-09-17: https://github.com/openai/codex ; https://developers.openai.com/codex/cli/ ; https://opencode.ai/docs/ ; https://hermes-agent.nousresearch.com/docs/getting-started/installation ; https://hermes-agent.nousresearch.com/docs/getting-started/quickstart .</a:t>
            </a:r>
          </a:p>
          <a:p xmlns:a="http://schemas.openxmlformats.org/drawingml/2006/main">
            <a:r>
              <a:t>This means Nous Research Hermes Agent. Use the official installer for the chosen OS. No gateway, bot, cron or production VPS is needed. For container setups, confirm the workshop is mounted and outputs persist on the host.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prompts/01-research.md. Give a real source URL and authorization context. The square brackets below represent information the participant must supply. This is the sole intentional fill-in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 reference/MODULE_CONTRACT.md, verified identical to local app docs/modules/MODULE_CONTRACT.md on 2026-09-17. Additional source: reference/VIDEO_MODULE_BLUEPRINT.md.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 reference/MODULE_CONTRACT.md, verified identical to local app docs/modules/MODULE_CONTRACT.md on 2026-09-17. Additional source: reference/VIDEO_MODULE_BLUEPRINT.md.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 reference/MODULE_CONTRACT.md, verified identical to local app docs/modules/MODULE_CONTRACT.md on 2026-09-17. Additional source: reference/VIDEO_MODULE_BLUEPRINT.md.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 docs/05-testing-and-evidence.md, docs/09-test-report.md and docs/10-audit-and-limits.md. The local probe follows one simple HLS path and samples a bounded prefix. It cannot prove sustained decode or language. S2 is maintainer tooling, not bundled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docs/09-test-report.md. A suggested release matrix is 20 fixed plus 10 recorded random cases, adapted to the source size. Respect limits and stop on throttling. Record every attempt, not just successes.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these from the kit root. --result and --ep mean 1-based list positions, not identity numbers. The selected case prints for human verification. A local PASS is not release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docs/08-workshop.md. UI labels can vary by app version. The packager includes only module.json/index.js. New official identities require maintainer allocation. A generic repository webpage is not necessarily a valid module repository 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 reference/MODULE_CONTRACT.md, verified identical to local app docs/modules/MODULE_CONTRACT.md on 2026-09-17. Additional source: reference/VIDEO_MODULE_BLUEPRINT.md.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checklist in docs/09-test-report.md. The kit does not include official registry/signing assets, full Flutter app or S2. No examples received live certification during this kit audit. A maintainer decides release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live activity: each participant chooses one authorized source, opens the kit in one agent and completes research before requesting implementation. The setup guide contains clickable official sources and all prompts are separate editable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9f9cec280f4d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08836c005c49a8" /><Relationship Type="http://schemas.openxmlformats.org/officeDocument/2006/relationships/slideLayout" Target="/ppt/slideLayouts/slideLayout1.xml" Id="R2bd3842f40f245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d3842f40f245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39a828d1e24e12" /><Relationship Type="http://schemas.openxmlformats.org/officeDocument/2006/relationships/image" Target="/ppt/media/image.png" Id="R55f44e3446274319" /><Relationship Type="http://schemas.openxmlformats.org/officeDocument/2006/relationships/notesSlide" Target="/ppt/notesSlides/notesSlide1.xml" Id="Rf6f6b02163c849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3be32632fd405a" /><Relationship Type="http://schemas.openxmlformats.org/officeDocument/2006/relationships/notesSlide" Target="/ppt/notesSlides/notesSlide2.xml" Id="Ra4a486518f2e44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1b09400db54204" /><Relationship Type="http://schemas.openxmlformats.org/officeDocument/2006/relationships/notesSlide" Target="/ppt/notesSlides/notesSlide3.xml" Id="Rbfaa99722b3a46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5e15b988784a4f" /><Relationship Type="http://schemas.openxmlformats.org/officeDocument/2006/relationships/notesSlide" Target="/ppt/notesSlides/notesSlide4.xml" Id="R9cd3ba07c4d74e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48ee3c18ed24ea1" /><Relationship Type="http://schemas.openxmlformats.org/officeDocument/2006/relationships/notesSlide" Target="/ppt/notesSlides/notesSlide5.xml" Id="R50307bc7d33f4e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48487f92a37473c" /><Relationship Type="http://schemas.openxmlformats.org/officeDocument/2006/relationships/notesSlide" Target="/ppt/notesSlides/notesSlide6.xml" Id="Rd3b244d2ea2243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9e589837c547d1" /><Relationship Type="http://schemas.openxmlformats.org/officeDocument/2006/relationships/notesSlide" Target="/ppt/notesSlides/notesSlide7.xml" Id="R0e933ee9f3be40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3f4dc8747cd448d" /><Relationship Type="http://schemas.openxmlformats.org/officeDocument/2006/relationships/notesSlide" Target="/ppt/notesSlides/notesSlide8.xml" Id="R6a0e57d35bdf4c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ab10771f7fe460a" /><Relationship Type="http://schemas.openxmlformats.org/officeDocument/2006/relationships/notesSlide" Target="/ppt/notesSlides/notesSlide9.xml" Id="R6e0c4d644ef143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2f626b915c747a1" /><Relationship Type="http://schemas.openxmlformats.org/officeDocument/2006/relationships/notesSlide" Target="/ppt/notesSlides/notesSlide10.xml" Id="R56a51dce873540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109da2b97334c0c" /><Relationship Type="http://schemas.openxmlformats.org/officeDocument/2006/relationships/notesSlide" Target="/ppt/notesSlides/notesSlide11.xml" Id="R4ca1002f54c54f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9fbebee54c4481b" /><Relationship Type="http://schemas.openxmlformats.org/officeDocument/2006/relationships/notesSlide" Target="/ppt/notesSlides/notesSlide12.xml" Id="R2938838edcd547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63eb5bb346e48a1" /><Relationship Type="http://schemas.openxmlformats.org/officeDocument/2006/relationships/notesSlide" Target="/ppt/notesSlides/notesSlide13.xml" Id="R3c90b7c02bbf406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318b013fd9a45ee" /><Relationship Type="http://schemas.openxmlformats.org/officeDocument/2006/relationships/notesSlide" Target="/ppt/notesSlides/notesSlide14.xml" Id="Rfd14969353874c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000aba15a954829" /><Relationship Type="http://schemas.openxmlformats.org/officeDocument/2006/relationships/notesSlide" Target="/ppt/notesSlides/notesSlide15.xml" Id="R243f0b7581d841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0a831d37d3546aa" /><Relationship Type="http://schemas.openxmlformats.org/officeDocument/2006/relationships/notesSlide" Target="/ppt/notesSlides/notesSlide16.xml" Id="R5ae6415f396e4b3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7f063466eaf4141" /><Relationship Type="http://schemas.openxmlformats.org/officeDocument/2006/relationships/notesSlide" Target="/ppt/notesSlides/notesSlide17.xml" Id="Rbb8407e9b19d4d2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b6bd436809a4045" /><Relationship Type="http://schemas.openxmlformats.org/officeDocument/2006/relationships/notesSlide" Target="/ppt/notesSlides/notesSlide18.xml" Id="Rc3c78ba6751943b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0a2c139e5d045bf" /><Relationship Type="http://schemas.openxmlformats.org/officeDocument/2006/relationships/notesSlide" Target="/ppt/notesSlides/notesSlide19.xml" Id="R4c678d70d6224d7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e7add5eed394b4e" /><Relationship Type="http://schemas.openxmlformats.org/officeDocument/2006/relationships/notesSlide" Target="/ppt/notesSlides/notesSlide20.xml" Id="Rc6f758abc3d1465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5a0812ff7ab424b" /><Relationship Type="http://schemas.openxmlformats.org/officeDocument/2006/relationships/notesSlide" Target="/ppt/notesSlides/notesSlide21.xml" Id="Rd3227484172545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e5691ddb7bf4119" /><Relationship Type="http://schemas.openxmlformats.org/officeDocument/2006/relationships/notesSlide" Target="/ppt/notesSlides/notesSlide22.xml" Id="R9ab3dded3eff40e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057E9A-E644-420B-A94F-77BF450F5EC3}"/>
              </a:ext>
            </a:extLst>
          </p:cNvPr>
          <p:cNvSpPr>
            <a:spLocks xmlns:a="http://schemas.openxmlformats.org/drawingml/2006/main" noGrp="1"/>
          </p:cNvSpPr>
          <p:nvPr/>
        </p:nvSpPr>
        <p:spPr>
          <a:xfrm xmlns:a="http://schemas.openxmlformats.org/drawingml/2006/main">
            <a:off x="685800" y="23812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5191B"/>
                </a:solidFill>
                <a:latin typeface="Helvetica Neue"/>
                <a:ea typeface="Helvetica Neue"/>
                <a:cs typeface="Helvetica Neue"/>
              </a:defRPr>
            </a:pPr>
            <a:r>
              <a:rPr sz="4800" b="1">
                <a:solidFill>
                  <a:srgbClr val="15191B"/>
                </a:solidFill>
                <a:latin typeface="Helvetica Neue"/>
                <a:ea typeface="Helvetica Neue"/>
                <a:cs typeface="Helvetica Neue"/>
              </a:rPr>
              <a:t>Making modules</a:t>
            </a:r>
          </a:p>
          <a:p xmlns:a="http://schemas.openxmlformats.org/drawingml/2006/main">
            <a:pPr>
              <a:defRPr sz="4800" b="1">
                <a:solidFill>
                  <a:srgbClr val="15191B"/>
                </a:solidFill>
                <a:latin typeface="Helvetica Neue"/>
                <a:ea typeface="Helvetica Neue"/>
                <a:cs typeface="Helvetica Neue"/>
              </a:defRPr>
            </a:pPr>
            <a:r>
              <a:rPr sz="4800" b="1">
                <a:solidFill>
                  <a:srgbClr val="15191B"/>
                </a:solidFill>
                <a:latin typeface="Helvetica Neue"/>
                <a:ea typeface="Helvetica Neue"/>
                <a:cs typeface="Helvetica Neue"/>
              </a:rPr>
              <a:t>for Synthetiq Player</a:t>
            </a:r>
          </a:p>
        </p:txBody>
      </p:sp>
      <p:sp>
        <p:nvSpPr>
          <p:cNvPr id="2" name="">
            <a:extLst xmlns:a="http://schemas.openxmlformats.org/drawingml/2006/main">
              <a:ext uri="{FF2B5EF4-FFF2-40B4-BE49-F238E27FC236}">
                <a16:creationId xmlns:a16="http://schemas.microsoft.com/office/drawing/2014/main" id="{2378ACCA-A23D-400B-876B-BCBB74459CA5}"/>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5f44e3446274319"/>
          <a:stretch xmlns:a="http://schemas.openxmlformats.org/drawingml/2006/main"/>
        </p:blipFill>
        <p:spPr>
          <a:xfrm xmlns:a="http://schemas.openxmlformats.org/drawingml/2006/main">
            <a:off x="685800" y="730207"/>
            <a:ext cx="3333750" cy="64461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DC655E5-237A-494F-947E-A5567CE064B2}"/>
              </a:ext>
            </a:extLst>
          </p:cNvPr>
          <p:cNvSpPr>
            <a:spLocks xmlns:a="http://schemas.openxmlformats.org/drawingml/2006/main" noGrp="1"/>
          </p:cNvSpPr>
          <p:nvPr/>
        </p:nvSpPr>
        <p:spPr>
          <a:xfrm xmlns:a="http://schemas.openxmlformats.org/drawingml/2006/main">
            <a:off x="723900" y="4457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66166"/>
                </a:solidFill>
                <a:latin typeface="Helvetica Neue"/>
                <a:ea typeface="Helvetica Neue"/>
                <a:cs typeface="Helvetica Neue"/>
              </a:defRPr>
            </a:pPr>
            <a:r>
              <a:rPr sz="2250" b="0">
                <a:solidFill>
                  <a:srgbClr val="566166"/>
                </a:solidFill>
                <a:latin typeface="Helvetica Neue"/>
                <a:ea typeface="Helvetica Neue"/>
                <a:cs typeface="Helvetica Neue"/>
              </a:rPr>
              <a:t>A hands-on workshop with Codex, OpenCode or Hermes</a:t>
            </a:r>
          </a:p>
        </p:txBody>
      </p:sp>
      <p:sp>
        <p:nvSpPr>
          <p:cNvPr id="5" name="">
            <a:extLst xmlns:a="http://schemas.openxmlformats.org/drawingml/2006/main">
              <a:ext uri="{FF2B5EF4-FFF2-40B4-BE49-F238E27FC236}">
                <a16:creationId xmlns:a16="http://schemas.microsoft.com/office/drawing/2014/main" id="{69DB7BD1-A5AC-4483-BA36-CC60EC612642}"/>
              </a:ext>
            </a:extLst>
          </p:cNvPr>
          <p:cNvSpPr>
            <a:spLocks xmlns:a="http://schemas.openxmlformats.org/drawingml/2006/main" noGrp="1"/>
          </p:cNvSpPr>
          <p:nvPr/>
        </p:nvSpPr>
        <p:spPr>
          <a:xfrm xmlns:a="http://schemas.openxmlformats.org/drawingml/2006/main">
            <a:off x="723900" y="57721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87F89"/>
                </a:solidFill>
                <a:latin typeface="Helvetica Neue"/>
                <a:ea typeface="Helvetica Neue"/>
                <a:cs typeface="Helvetica Neue"/>
              </a:defRPr>
            </a:pPr>
            <a:r>
              <a:rPr sz="1575" b="0">
                <a:solidFill>
                  <a:srgbClr val="087F89"/>
                </a:solidFill>
                <a:latin typeface="Helvetica Neue"/>
                <a:ea typeface="Helvetica Neue"/>
                <a:cs typeface="Helvetica Neue"/>
              </a:rPr>
              <a:t>Workshop edition  /  September 2026</a:t>
            </a:r>
          </a:p>
        </p:txBody>
      </p:sp>
    </p:spTree>
    <p:extLst>
      <p:ext uri="{BB962C8B-B14F-4D97-AF65-F5344CB8AC3E}">
        <p14:creationId xmlns:p14="http://schemas.microsoft.com/office/powerpoint/2010/main" val="21058595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DFC775-55AD-4EB4-973D-74C1ED06E17A}"/>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The workshop outcome</a:t>
            </a:r>
          </a:p>
        </p:txBody>
      </p:sp>
      <p:sp>
        <p:nvSpPr>
          <p:cNvPr id="2" name="">
            <a:extLst xmlns:a="http://schemas.openxmlformats.org/drawingml/2006/main">
              <a:ext uri="{FF2B5EF4-FFF2-40B4-BE49-F238E27FC236}">
                <a16:creationId xmlns:a16="http://schemas.microsoft.com/office/drawing/2014/main" id="{14197741-9D4C-491F-AF78-CC1DE0B28175}"/>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44C2F48A-F165-44C8-BD27-F151CAF1CCAF}"/>
              </a:ext>
            </a:extLst>
          </p:cNvPr>
          <p:cNvSpPr>
            <a:spLocks xmlns:a="http://schemas.openxmlformats.org/drawingml/2006/main" noGrp="1"/>
          </p:cNvSpPr>
          <p:nvPr/>
        </p:nvSpPr>
        <p:spPr>
          <a:xfrm xmlns:a="http://schemas.openxmlformats.org/drawingml/2006/main">
            <a:off x="685800" y="2000250"/>
            <a:ext cx="10477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5191B"/>
                </a:solidFill>
                <a:latin typeface="Helvetica Neue"/>
                <a:ea typeface="Helvetica Neue"/>
                <a:cs typeface="Helvetica Neue"/>
              </a:defRPr>
            </a:pPr>
            <a:r>
              <a:rPr sz="3600" b="1">
                <a:solidFill>
                  <a:srgbClr val="15191B"/>
                </a:solidFill>
                <a:latin typeface="Helvetica Neue"/>
                <a:ea typeface="Helvetica Neue"/>
                <a:cs typeface="Helvetica Neue"/>
              </a:rPr>
              <a:t>One module folder.</a:t>
            </a:r>
          </a:p>
          <a:p xmlns:a="http://schemas.openxmlformats.org/drawingml/2006/main">
            <a:pPr>
              <a:defRPr sz="3600" b="1">
                <a:solidFill>
                  <a:srgbClr val="15191B"/>
                </a:solidFill>
                <a:latin typeface="Helvetica Neue"/>
                <a:ea typeface="Helvetica Neue"/>
                <a:cs typeface="Helvetica Neue"/>
              </a:defRPr>
            </a:pPr>
            <a:r>
              <a:rPr sz="3600" b="1">
                <a:solidFill>
                  <a:srgbClr val="15191B"/>
                </a:solidFill>
                <a:latin typeface="Helvetica Neue"/>
                <a:ea typeface="Helvetica Neue"/>
                <a:cs typeface="Helvetica Neue"/>
              </a:rPr>
              <a:t>One beta ZIP.</a:t>
            </a:r>
          </a:p>
          <a:p xmlns:a="http://schemas.openxmlformats.org/drawingml/2006/main">
            <a:pPr>
              <a:defRPr sz="3600" b="1">
                <a:solidFill>
                  <a:srgbClr val="15191B"/>
                </a:solidFill>
                <a:latin typeface="Helvetica Neue"/>
                <a:ea typeface="Helvetica Neue"/>
                <a:cs typeface="Helvetica Neue"/>
              </a:defRPr>
            </a:pPr>
            <a:r>
              <a:rPr sz="3600" b="1">
                <a:solidFill>
                  <a:srgbClr val="15191B"/>
                </a:solidFill>
                <a:latin typeface="Helvetica Neue"/>
                <a:ea typeface="Helvetica Neue"/>
                <a:cs typeface="Helvetica Neue"/>
              </a:rPr>
              <a:t>A test report you can trust.</a:t>
            </a:r>
          </a:p>
        </p:txBody>
      </p:sp>
      <p:sp>
        <p:nvSpPr>
          <p:cNvPr id="4" name="">
            <a:extLst xmlns:a="http://schemas.openxmlformats.org/drawingml/2006/main">
              <a:ext uri="{FF2B5EF4-FFF2-40B4-BE49-F238E27FC236}">
                <a16:creationId xmlns:a16="http://schemas.microsoft.com/office/drawing/2014/main" id="{5677361E-C733-4450-91C2-9651A121D5A5}"/>
              </a:ext>
            </a:extLst>
          </p:cNvPr>
          <p:cNvSpPr>
            <a:spLocks xmlns:a="http://schemas.openxmlformats.org/drawingml/2006/main" noGrp="1"/>
          </p:cNvSpPr>
          <p:nvPr/>
        </p:nvSpPr>
        <p:spPr>
          <a:xfrm xmlns:a="http://schemas.openxmlformats.org/drawingml/2006/main">
            <a:off x="685800" y="4857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66166"/>
                </a:solidFill>
                <a:latin typeface="Helvetica Neue"/>
                <a:ea typeface="Helvetica Neue"/>
                <a:cs typeface="Helvetica Neue"/>
              </a:defRPr>
            </a:pPr>
            <a:r>
              <a:rPr sz="2250" b="0">
                <a:solidFill>
                  <a:srgbClr val="566166"/>
                </a:solidFill>
                <a:latin typeface="Helvetica Neue"/>
                <a:ea typeface="Helvetica Neue"/>
                <a:cs typeface="Helvetica Neue"/>
              </a:rPr>
              <a:t>Video and manga examples use the same development workflow.</a:t>
            </a:r>
          </a:p>
          <a:p xmlns:a="http://schemas.openxmlformats.org/drawingml/2006/main">
            <a:pPr>
              <a:defRPr sz="2250" b="0">
                <a:solidFill>
                  <a:srgbClr val="566166"/>
                </a:solidFill>
                <a:latin typeface="Helvetica Neue"/>
                <a:ea typeface="Helvetica Neue"/>
                <a:cs typeface="Helvetica Neue"/>
              </a:defRPr>
            </a:pPr>
            <a:r>
              <a:rPr sz="2250" b="0">
                <a:solidFill>
                  <a:srgbClr val="566166"/>
                </a:solidFill>
                <a:latin typeface="Helvetica Neue"/>
                <a:ea typeface="Helvetica Neue"/>
                <a:cs typeface="Helvetica Neue"/>
              </a:rPr>
              <a:t>You do not need to rebuild the Flutter app.</a:t>
            </a:r>
          </a:p>
        </p:txBody>
      </p:sp>
    </p:spTree>
    <p:extLst>
      <p:ext uri="{BB962C8B-B14F-4D97-AF65-F5344CB8AC3E}">
        <p14:creationId xmlns:p14="http://schemas.microsoft.com/office/powerpoint/2010/main" val="18513657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70D8DA-66AC-4B56-8A89-D472B716D77B}"/>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Who does what?</a:t>
            </a:r>
          </a:p>
        </p:txBody>
      </p:sp>
      <p:sp>
        <p:nvSpPr>
          <p:cNvPr id="2" name="">
            <a:extLst xmlns:a="http://schemas.openxmlformats.org/drawingml/2006/main">
              <a:ext uri="{FF2B5EF4-FFF2-40B4-BE49-F238E27FC236}">
                <a16:creationId xmlns:a16="http://schemas.microsoft.com/office/drawing/2014/main" id="{2E9FC61F-AB64-43BB-96C3-9D60167576C9}"/>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00C2A63A-1A10-4325-8F2B-BA7D2BA5735A}"/>
              </a:ext>
            </a:extLst>
          </p:cNvPr>
          <p:cNvSpPr>
            <a:spLocks xmlns:a="http://schemas.openxmlformats.org/drawingml/2006/main" noGrp="1"/>
          </p:cNvSpPr>
          <p:nvPr/>
        </p:nvSpPr>
        <p:spPr>
          <a:xfrm xmlns:a="http://schemas.openxmlformats.org/drawingml/2006/main">
            <a:off x="685800" y="17621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Player</a:t>
            </a:r>
          </a:p>
        </p:txBody>
      </p:sp>
      <p:sp>
        <p:nvSpPr>
          <p:cNvPr id="4" name="">
            <a:extLst xmlns:a="http://schemas.openxmlformats.org/drawingml/2006/main">
              <a:ext uri="{FF2B5EF4-FFF2-40B4-BE49-F238E27FC236}">
                <a16:creationId xmlns:a16="http://schemas.microsoft.com/office/drawing/2014/main" id="{0A943EFD-C24A-46C6-B394-7840610F784B}"/>
              </a:ext>
            </a:extLst>
          </p:cNvPr>
          <p:cNvSpPr>
            <a:spLocks xmlns:a="http://schemas.openxmlformats.org/drawingml/2006/main" noGrp="1"/>
          </p:cNvSpPr>
          <p:nvPr/>
        </p:nvSpPr>
        <p:spPr>
          <a:xfrm xmlns:a="http://schemas.openxmlformats.org/drawingml/2006/main">
            <a:off x="3762375" y="17621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Shows the interface and controls playback, reading and storage.</a:t>
            </a:r>
          </a:p>
        </p:txBody>
      </p:sp>
      <p:sp>
        <p:nvSpPr>
          <p:cNvPr id="5" name="">
            <a:extLst xmlns:a="http://schemas.openxmlformats.org/drawingml/2006/main">
              <a:ext uri="{FF2B5EF4-FFF2-40B4-BE49-F238E27FC236}">
                <a16:creationId xmlns:a16="http://schemas.microsoft.com/office/drawing/2014/main" id="{9ACA634B-F3DC-4F94-BFDF-0BCC2E72A9AF}"/>
              </a:ext>
            </a:extLst>
          </p:cNvPr>
          <p:cNvSpPr>
            <a:spLocks xmlns:a="http://schemas.openxmlformats.org/drawingml/2006/main" noGrp="1"/>
          </p:cNvSpPr>
          <p:nvPr/>
        </p:nvSpPr>
        <p:spPr>
          <a:xfrm xmlns:a="http://schemas.openxmlformats.org/drawingml/2006/main">
            <a:off x="685800" y="2809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Module</a:t>
            </a:r>
          </a:p>
        </p:txBody>
      </p:sp>
      <p:sp>
        <p:nvSpPr>
          <p:cNvPr id="6" name="">
            <a:extLst xmlns:a="http://schemas.openxmlformats.org/drawingml/2006/main">
              <a:ext uri="{FF2B5EF4-FFF2-40B4-BE49-F238E27FC236}">
                <a16:creationId xmlns:a16="http://schemas.microsoft.com/office/drawing/2014/main" id="{CD5AE8B6-16F4-46E7-B79B-25A61CDED708}"/>
              </a:ext>
            </a:extLst>
          </p:cNvPr>
          <p:cNvSpPr>
            <a:spLocks xmlns:a="http://schemas.openxmlformats.org/drawingml/2006/main" noGrp="1"/>
          </p:cNvSpPr>
          <p:nvPr/>
        </p:nvSpPr>
        <p:spPr>
          <a:xfrm xmlns:a="http://schemas.openxmlformats.org/drawingml/2006/main">
            <a:off x="3762375" y="28098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Finds catalogue data and returns content URLs with needed headers.</a:t>
            </a:r>
          </a:p>
        </p:txBody>
      </p:sp>
      <p:sp>
        <p:nvSpPr>
          <p:cNvPr id="7" name="">
            <a:extLst xmlns:a="http://schemas.openxmlformats.org/drawingml/2006/main">
              <a:ext uri="{FF2B5EF4-FFF2-40B4-BE49-F238E27FC236}">
                <a16:creationId xmlns:a16="http://schemas.microsoft.com/office/drawing/2014/main" id="{9C349960-DD54-4372-90A8-1324F586F4CA}"/>
              </a:ext>
            </a:extLst>
          </p:cNvPr>
          <p:cNvSpPr>
            <a:spLocks xmlns:a="http://schemas.openxmlformats.org/drawingml/2006/main" noGrp="1"/>
          </p:cNvSpPr>
          <p:nvPr/>
        </p:nvSpPr>
        <p:spPr>
          <a:xfrm xmlns:a="http://schemas.openxmlformats.org/drawingml/2006/main">
            <a:off x="685800" y="3857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Source</a:t>
            </a:r>
          </a:p>
        </p:txBody>
      </p:sp>
      <p:sp>
        <p:nvSpPr>
          <p:cNvPr id="8" name="">
            <a:extLst xmlns:a="http://schemas.openxmlformats.org/drawingml/2006/main">
              <a:ext uri="{FF2B5EF4-FFF2-40B4-BE49-F238E27FC236}">
                <a16:creationId xmlns:a16="http://schemas.microsoft.com/office/drawing/2014/main" id="{2988BA9A-D3EF-415D-A979-0942661604BE}"/>
              </a:ext>
            </a:extLst>
          </p:cNvPr>
          <p:cNvSpPr>
            <a:spLocks xmlns:a="http://schemas.openxmlformats.org/drawingml/2006/main" noGrp="1"/>
          </p:cNvSpPr>
          <p:nvPr/>
        </p:nvSpPr>
        <p:spPr>
          <a:xfrm xmlns:a="http://schemas.openxmlformats.org/drawingml/2006/main">
            <a:off x="3762375" y="38576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Provides the catalogue and media. Availability can change.</a:t>
            </a:r>
          </a:p>
        </p:txBody>
      </p:sp>
      <p:sp>
        <p:nvSpPr>
          <p:cNvPr id="9" name="">
            <a:extLst xmlns:a="http://schemas.openxmlformats.org/drawingml/2006/main">
              <a:ext uri="{FF2B5EF4-FFF2-40B4-BE49-F238E27FC236}">
                <a16:creationId xmlns:a16="http://schemas.microsoft.com/office/drawing/2014/main" id="{B46084A8-0E6F-4FF8-B1A2-7EBCB4C10ED6}"/>
              </a:ext>
            </a:extLst>
          </p:cNvPr>
          <p:cNvSpPr>
            <a:spLocks xmlns:a="http://schemas.openxmlformats.org/drawingml/2006/main" noGrp="1"/>
          </p:cNvSpPr>
          <p:nvPr/>
        </p:nvSpPr>
        <p:spPr>
          <a:xfrm xmlns:a="http://schemas.openxmlformats.org/drawingml/2006/main">
            <a:off x="685800" y="49053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AI agent</a:t>
            </a:r>
          </a:p>
        </p:txBody>
      </p:sp>
      <p:sp>
        <p:nvSpPr>
          <p:cNvPr id="10" name="">
            <a:extLst xmlns:a="http://schemas.openxmlformats.org/drawingml/2006/main">
              <a:ext uri="{FF2B5EF4-FFF2-40B4-BE49-F238E27FC236}">
                <a16:creationId xmlns:a16="http://schemas.microsoft.com/office/drawing/2014/main" id="{25678E19-A27A-4E16-AC46-92AC9B6B1870}"/>
              </a:ext>
            </a:extLst>
          </p:cNvPr>
          <p:cNvSpPr>
            <a:spLocks xmlns:a="http://schemas.openxmlformats.org/drawingml/2006/main" noGrp="1"/>
          </p:cNvSpPr>
          <p:nvPr/>
        </p:nvSpPr>
        <p:spPr>
          <a:xfrm xmlns:a="http://schemas.openxmlformats.org/drawingml/2006/main">
            <a:off x="3762375" y="49053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Helps write and test code on your computer. It is not part of the module.</a:t>
            </a:r>
          </a:p>
        </p:txBody>
      </p:sp>
    </p:spTree>
    <p:extLst>
      <p:ext uri="{BB962C8B-B14F-4D97-AF65-F5344CB8AC3E}">
        <p14:creationId xmlns:p14="http://schemas.microsoft.com/office/powerpoint/2010/main" val="14158291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F21969-1219-4C6F-B4EC-04967C526006}"/>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A video request, step by step</a:t>
            </a:r>
          </a:p>
        </p:txBody>
      </p:sp>
      <p:sp>
        <p:nvSpPr>
          <p:cNvPr id="2" name="">
            <a:extLst xmlns:a="http://schemas.openxmlformats.org/drawingml/2006/main">
              <a:ext uri="{FF2B5EF4-FFF2-40B4-BE49-F238E27FC236}">
                <a16:creationId xmlns:a16="http://schemas.microsoft.com/office/drawing/2014/main" id="{CB9DAF7E-7E97-430E-9C78-96C0B7B0D8E3}"/>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267693E7-59E4-4957-BF43-F65A556304CE}"/>
              </a:ext>
            </a:extLst>
          </p:cNvPr>
          <p:cNvSpPr>
            <a:spLocks xmlns:a="http://schemas.openxmlformats.org/drawingml/2006/main" noGrp="1"/>
          </p:cNvSpPr>
          <p:nvPr/>
        </p:nvSpPr>
        <p:spPr>
          <a:xfrm xmlns:a="http://schemas.openxmlformats.org/drawingml/2006/main">
            <a:off x="685800" y="17621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1  Search</a:t>
            </a:r>
          </a:p>
        </p:txBody>
      </p:sp>
      <p:sp>
        <p:nvSpPr>
          <p:cNvPr id="4" name="">
            <a:extLst xmlns:a="http://schemas.openxmlformats.org/drawingml/2006/main">
              <a:ext uri="{FF2B5EF4-FFF2-40B4-BE49-F238E27FC236}">
                <a16:creationId xmlns:a16="http://schemas.microsoft.com/office/drawing/2014/main" id="{8F16C835-89E2-4B5D-B31C-9E725A697746}"/>
              </a:ext>
            </a:extLst>
          </p:cNvPr>
          <p:cNvSpPr>
            <a:spLocks xmlns:a="http://schemas.openxmlformats.org/drawingml/2006/main" noGrp="1"/>
          </p:cNvSpPr>
          <p:nvPr/>
        </p:nvSpPr>
        <p:spPr>
          <a:xfrm xmlns:a="http://schemas.openxmlformats.org/drawingml/2006/main">
            <a:off x="3762375" y="17621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searchResults(query) returns cards with stable IDs and artwork.</a:t>
            </a:r>
          </a:p>
        </p:txBody>
      </p:sp>
      <p:sp>
        <p:nvSpPr>
          <p:cNvPr id="5" name="">
            <a:extLst xmlns:a="http://schemas.openxmlformats.org/drawingml/2006/main">
              <a:ext uri="{FF2B5EF4-FFF2-40B4-BE49-F238E27FC236}">
                <a16:creationId xmlns:a16="http://schemas.microsoft.com/office/drawing/2014/main" id="{5BAB46C1-BEEC-4376-9210-C03E304C0523}"/>
              </a:ext>
            </a:extLst>
          </p:cNvPr>
          <p:cNvSpPr>
            <a:spLocks xmlns:a="http://schemas.openxmlformats.org/drawingml/2006/main" noGrp="1"/>
          </p:cNvSpPr>
          <p:nvPr/>
        </p:nvSpPr>
        <p:spPr>
          <a:xfrm xmlns:a="http://schemas.openxmlformats.org/drawingml/2006/main">
            <a:off x="685800" y="2809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2  Details</a:t>
            </a:r>
          </a:p>
        </p:txBody>
      </p:sp>
      <p:sp>
        <p:nvSpPr>
          <p:cNvPr id="6" name="">
            <a:extLst xmlns:a="http://schemas.openxmlformats.org/drawingml/2006/main">
              <a:ext uri="{FF2B5EF4-FFF2-40B4-BE49-F238E27FC236}">
                <a16:creationId xmlns:a16="http://schemas.microsoft.com/office/drawing/2014/main" id="{CB94E86A-E9B5-4F09-9076-CC6BC8D2C504}"/>
              </a:ext>
            </a:extLst>
          </p:cNvPr>
          <p:cNvSpPr>
            <a:spLocks xmlns:a="http://schemas.openxmlformats.org/drawingml/2006/main" noGrp="1"/>
          </p:cNvSpPr>
          <p:nvPr/>
        </p:nvSpPr>
        <p:spPr>
          <a:xfrm xmlns:a="http://schemas.openxmlformats.org/drawingml/2006/main">
            <a:off x="3762375" y="28098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extractDetails(id) returns the selected title and description.</a:t>
            </a:r>
          </a:p>
        </p:txBody>
      </p:sp>
      <p:sp>
        <p:nvSpPr>
          <p:cNvPr id="7" name="">
            <a:extLst xmlns:a="http://schemas.openxmlformats.org/drawingml/2006/main">
              <a:ext uri="{FF2B5EF4-FFF2-40B4-BE49-F238E27FC236}">
                <a16:creationId xmlns:a16="http://schemas.microsoft.com/office/drawing/2014/main" id="{C7F57D2B-0C1D-482B-B0B6-DB7922A314F8}"/>
              </a:ext>
            </a:extLst>
          </p:cNvPr>
          <p:cNvSpPr>
            <a:spLocks xmlns:a="http://schemas.openxmlformats.org/drawingml/2006/main" noGrp="1"/>
          </p:cNvSpPr>
          <p:nvPr/>
        </p:nvSpPr>
        <p:spPr>
          <a:xfrm xmlns:a="http://schemas.openxmlformats.org/drawingml/2006/main">
            <a:off x="685800" y="3857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3  Episodes</a:t>
            </a:r>
          </a:p>
        </p:txBody>
      </p:sp>
      <p:sp>
        <p:nvSpPr>
          <p:cNvPr id="8" name="">
            <a:extLst xmlns:a="http://schemas.openxmlformats.org/drawingml/2006/main">
              <a:ext uri="{FF2B5EF4-FFF2-40B4-BE49-F238E27FC236}">
                <a16:creationId xmlns:a16="http://schemas.microsoft.com/office/drawing/2014/main" id="{96BDDD8C-D78D-459C-9A57-D2E865331764}"/>
              </a:ext>
            </a:extLst>
          </p:cNvPr>
          <p:cNvSpPr>
            <a:spLocks xmlns:a="http://schemas.openxmlformats.org/drawingml/2006/main" noGrp="1"/>
          </p:cNvSpPr>
          <p:nvPr/>
        </p:nvSpPr>
        <p:spPr>
          <a:xfrm xmlns:a="http://schemas.openxmlformats.org/drawingml/2006/main">
            <a:off x="3762375" y="38576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extractEpisodes(id) returns the correct ordered episode list.</a:t>
            </a:r>
          </a:p>
        </p:txBody>
      </p:sp>
      <p:sp>
        <p:nvSpPr>
          <p:cNvPr id="9" name="">
            <a:extLst xmlns:a="http://schemas.openxmlformats.org/drawingml/2006/main">
              <a:ext uri="{FF2B5EF4-FFF2-40B4-BE49-F238E27FC236}">
                <a16:creationId xmlns:a16="http://schemas.microsoft.com/office/drawing/2014/main" id="{1E1ABE8E-845A-4501-8817-5F055940B6BB}"/>
              </a:ext>
            </a:extLst>
          </p:cNvPr>
          <p:cNvSpPr>
            <a:spLocks xmlns:a="http://schemas.openxmlformats.org/drawingml/2006/main" noGrp="1"/>
          </p:cNvSpPr>
          <p:nvPr/>
        </p:nvSpPr>
        <p:spPr>
          <a:xfrm xmlns:a="http://schemas.openxmlformats.org/drawingml/2006/main">
            <a:off x="685800" y="49053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4  Play</a:t>
            </a:r>
          </a:p>
        </p:txBody>
      </p:sp>
      <p:sp>
        <p:nvSpPr>
          <p:cNvPr id="10" name="">
            <a:extLst xmlns:a="http://schemas.openxmlformats.org/drawingml/2006/main">
              <a:ext uri="{FF2B5EF4-FFF2-40B4-BE49-F238E27FC236}">
                <a16:creationId xmlns:a16="http://schemas.microsoft.com/office/drawing/2014/main" id="{FAB27ACC-246F-4953-916B-D8243EDE5218}"/>
              </a:ext>
            </a:extLst>
          </p:cNvPr>
          <p:cNvSpPr>
            <a:spLocks xmlns:a="http://schemas.openxmlformats.org/drawingml/2006/main" noGrp="1"/>
          </p:cNvSpPr>
          <p:nvPr/>
        </p:nvSpPr>
        <p:spPr>
          <a:xfrm xmlns:a="http://schemas.openxmlformats.org/drawingml/2006/main">
            <a:off x="3762375" y="49053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extractStreamUrl(href, lang) returns a media URL and headers.</a:t>
            </a:r>
          </a:p>
        </p:txBody>
      </p:sp>
    </p:spTree>
    <p:extLst>
      <p:ext uri="{BB962C8B-B14F-4D97-AF65-F5344CB8AC3E}">
        <p14:creationId xmlns:p14="http://schemas.microsoft.com/office/powerpoint/2010/main" val="18218853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FD080B-0173-4F12-97C1-907A466BC89C}"/>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Video and manga</a:t>
            </a:r>
          </a:p>
        </p:txBody>
      </p:sp>
      <p:sp>
        <p:nvSpPr>
          <p:cNvPr id="2" name="">
            <a:extLst xmlns:a="http://schemas.openxmlformats.org/drawingml/2006/main">
              <a:ext uri="{FF2B5EF4-FFF2-40B4-BE49-F238E27FC236}">
                <a16:creationId xmlns:a16="http://schemas.microsoft.com/office/drawing/2014/main" id="{1F6492AB-8346-42BC-A5D4-E47D44EB7E4B}"/>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3387B3AA-6F15-401B-89B7-9E610B5FA198}"/>
              </a:ext>
            </a:extLst>
          </p:cNvPr>
          <p:cNvSpPr>
            <a:spLocks xmlns:a="http://schemas.openxmlformats.org/drawingml/2006/main" noGrp="1"/>
          </p:cNvSpPr>
          <p:nvPr/>
        </p:nvSpPr>
        <p:spPr>
          <a:xfrm xmlns:a="http://schemas.openxmlformats.org/drawingml/2006/main">
            <a:off x="685800" y="200025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9"/>
                </a:solidFill>
                <a:latin typeface="Helvetica Neue"/>
                <a:ea typeface="Helvetica Neue"/>
                <a:cs typeface="Helvetica Neue"/>
              </a:defRPr>
            </a:pPr>
            <a:r>
              <a:rPr sz="2400" b="1">
                <a:solidFill>
                  <a:srgbClr val="087F89"/>
                </a:solidFill>
                <a:latin typeface="Helvetica Neue"/>
                <a:ea typeface="Helvetica Neue"/>
                <a:cs typeface="Helvetica Neue"/>
              </a:rPr>
              <a:t>Video</a:t>
            </a:r>
          </a:p>
        </p:txBody>
      </p:sp>
      <p:sp>
        <p:nvSpPr>
          <p:cNvPr id="4" name="">
            <a:extLst xmlns:a="http://schemas.openxmlformats.org/drawingml/2006/main">
              <a:ext uri="{FF2B5EF4-FFF2-40B4-BE49-F238E27FC236}">
                <a16:creationId xmlns:a16="http://schemas.microsoft.com/office/drawing/2014/main" id="{5111D395-4584-4B85-B6B7-C06D48361111}"/>
              </a:ext>
            </a:extLst>
          </p:cNvPr>
          <p:cNvSpPr>
            <a:spLocks xmlns:a="http://schemas.openxmlformats.org/drawingml/2006/main" noGrp="1"/>
          </p:cNvSpPr>
          <p:nvPr/>
        </p:nvSpPr>
        <p:spPr>
          <a:xfrm xmlns:a="http://schemas.openxmlformats.org/drawingml/2006/main">
            <a:off x="685800" y="2762250"/>
            <a:ext cx="4857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Search and details</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Episode list</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Stream resolution</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Actual player test</a:t>
            </a:r>
          </a:p>
        </p:txBody>
      </p:sp>
      <p:sp>
        <p:nvSpPr>
          <p:cNvPr id="5" name="">
            <a:extLst xmlns:a="http://schemas.openxmlformats.org/drawingml/2006/main">
              <a:ext uri="{FF2B5EF4-FFF2-40B4-BE49-F238E27FC236}">
                <a16:creationId xmlns:a16="http://schemas.microsoft.com/office/drawing/2014/main" id="{3E3E313F-325F-4D47-B669-4E2806964DBB}"/>
              </a:ext>
            </a:extLst>
          </p:cNvPr>
          <p:cNvSpPr>
            <a:spLocks xmlns:a="http://schemas.openxmlformats.org/drawingml/2006/main" noGrp="1"/>
          </p:cNvSpPr>
          <p:nvPr/>
        </p:nvSpPr>
        <p:spPr>
          <a:xfrm xmlns:a="http://schemas.openxmlformats.org/drawingml/2006/main">
            <a:off x="6477000" y="200025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9"/>
                </a:solidFill>
                <a:latin typeface="Helvetica Neue"/>
                <a:ea typeface="Helvetica Neue"/>
                <a:cs typeface="Helvetica Neue"/>
              </a:defRPr>
            </a:pPr>
            <a:r>
              <a:rPr sz="2400" b="1">
                <a:solidFill>
                  <a:srgbClr val="087F89"/>
                </a:solidFill>
                <a:latin typeface="Helvetica Neue"/>
                <a:ea typeface="Helvetica Neue"/>
                <a:cs typeface="Helvetica Neue"/>
              </a:rPr>
              <a:t>Manga / comics</a:t>
            </a:r>
          </a:p>
        </p:txBody>
      </p:sp>
      <p:sp>
        <p:nvSpPr>
          <p:cNvPr id="6" name="">
            <a:extLst xmlns:a="http://schemas.openxmlformats.org/drawingml/2006/main">
              <a:ext uri="{FF2B5EF4-FFF2-40B4-BE49-F238E27FC236}">
                <a16:creationId xmlns:a16="http://schemas.microsoft.com/office/drawing/2014/main" id="{B7A3B978-6BE2-428C-AFEF-17182CBB1A6C}"/>
              </a:ext>
            </a:extLst>
          </p:cNvPr>
          <p:cNvSpPr>
            <a:spLocks xmlns:a="http://schemas.openxmlformats.org/drawingml/2006/main" noGrp="1"/>
          </p:cNvSpPr>
          <p:nvPr/>
        </p:nvSpPr>
        <p:spPr>
          <a:xfrm xmlns:a="http://schemas.openxmlformats.org/drawingml/2006/main">
            <a:off x="6477000" y="2762250"/>
            <a:ext cx="4857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Search and details</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Chapter list</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Ordered page images</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Actual reader test</a:t>
            </a:r>
          </a:p>
        </p:txBody>
      </p:sp>
      <p:sp>
        <p:nvSpPr>
          <p:cNvPr id="7" name="">
            <a:extLst xmlns:a="http://schemas.openxmlformats.org/drawingml/2006/main">
              <a:ext uri="{FF2B5EF4-FFF2-40B4-BE49-F238E27FC236}">
                <a16:creationId xmlns:a16="http://schemas.microsoft.com/office/drawing/2014/main" id="{FFDBE71D-F380-4C1D-A744-CB1466DE2709}"/>
              </a:ext>
            </a:extLst>
          </p:cNvPr>
          <p:cNvSpPr>
            <a:spLocks xmlns:a="http://schemas.openxmlformats.org/drawingml/2006/main" noGrp="1"/>
          </p:cNvSpPr>
          <p:nvPr/>
        </p:nvSpPr>
        <p:spPr>
          <a:xfrm xmlns:a="http://schemas.openxmlformats.org/drawingml/2006/main">
            <a:off x="685800" y="569595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66166"/>
                </a:solidFill>
                <a:latin typeface="Helvetica Neue"/>
                <a:ea typeface="Helvetica Neue"/>
                <a:cs typeface="Helvetica Neue"/>
              </a:defRPr>
            </a:pPr>
            <a:r>
              <a:rPr sz="1800" b="0">
                <a:solidFill>
                  <a:srgbClr val="566166"/>
                </a:solidFill>
                <a:latin typeface="Helvetica Neue"/>
                <a:ea typeface="Helvetica Neue"/>
                <a:cs typeface="Helvetica Neue"/>
              </a:rPr>
              <a:t>A movie normally has one episode entry. A series needs stable season and episode mapping.</a:t>
            </a:r>
          </a:p>
        </p:txBody>
      </p:sp>
    </p:spTree>
    <p:extLst>
      <p:ext uri="{BB962C8B-B14F-4D97-AF65-F5344CB8AC3E}">
        <p14:creationId xmlns:p14="http://schemas.microsoft.com/office/powerpoint/2010/main" val="18359195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F63325-D24E-44DE-835F-E7EECE2C3C3D}"/>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The two files you deliver</a:t>
            </a:r>
          </a:p>
        </p:txBody>
      </p:sp>
      <p:sp>
        <p:nvSpPr>
          <p:cNvPr id="2" name="">
            <a:extLst xmlns:a="http://schemas.openxmlformats.org/drawingml/2006/main">
              <a:ext uri="{FF2B5EF4-FFF2-40B4-BE49-F238E27FC236}">
                <a16:creationId xmlns:a16="http://schemas.microsoft.com/office/drawing/2014/main" id="{2D486C7A-BFCA-4B23-9DBF-706272B456A6}"/>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B05AE0E9-64D6-4011-9DEB-88DB716022E0}"/>
              </a:ext>
            </a:extLst>
          </p:cNvPr>
          <p:cNvSpPr>
            <a:spLocks xmlns:a="http://schemas.openxmlformats.org/drawingml/2006/main" noGrp="1"/>
          </p:cNvSpPr>
          <p:nvPr/>
        </p:nvSpPr>
        <p:spPr>
          <a:xfrm xmlns:a="http://schemas.openxmlformats.org/drawingml/2006/main">
            <a:off x="685800" y="200025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9"/>
                </a:solidFill>
                <a:latin typeface="Helvetica Neue"/>
                <a:ea typeface="Helvetica Neue"/>
                <a:cs typeface="Helvetica Neue"/>
              </a:defRPr>
            </a:pPr>
            <a:r>
              <a:rPr sz="2400" b="1">
                <a:solidFill>
                  <a:srgbClr val="087F89"/>
                </a:solidFill>
                <a:latin typeface="Helvetica Neue"/>
                <a:ea typeface="Helvetica Neue"/>
                <a:cs typeface="Helvetica Neue"/>
              </a:rPr>
              <a:t>module.json</a:t>
            </a:r>
          </a:p>
        </p:txBody>
      </p:sp>
      <p:sp>
        <p:nvSpPr>
          <p:cNvPr id="4" name="">
            <a:extLst xmlns:a="http://schemas.openxmlformats.org/drawingml/2006/main">
              <a:ext uri="{FF2B5EF4-FFF2-40B4-BE49-F238E27FC236}">
                <a16:creationId xmlns:a16="http://schemas.microsoft.com/office/drawing/2014/main" id="{AC1D3A3E-DE0D-44B1-9A94-E8DBBABA9BE7}"/>
              </a:ext>
            </a:extLst>
          </p:cNvPr>
          <p:cNvSpPr>
            <a:spLocks xmlns:a="http://schemas.openxmlformats.org/drawingml/2006/main" noGrp="1"/>
          </p:cNvSpPr>
          <p:nvPr/>
        </p:nvSpPr>
        <p:spPr>
          <a:xfrm xmlns:a="http://schemas.openxmlformats.org/drawingml/2006/main">
            <a:off x="685800" y="2762250"/>
            <a:ext cx="4857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Name, identity and version</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Content type and capabilities</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Local JavaScript entry</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Request and home limits</a:t>
            </a:r>
          </a:p>
        </p:txBody>
      </p:sp>
      <p:sp>
        <p:nvSpPr>
          <p:cNvPr id="5" name="">
            <a:extLst xmlns:a="http://schemas.openxmlformats.org/drawingml/2006/main">
              <a:ext uri="{FF2B5EF4-FFF2-40B4-BE49-F238E27FC236}">
                <a16:creationId xmlns:a16="http://schemas.microsoft.com/office/drawing/2014/main" id="{29D80B94-BE5A-4ACC-8936-691B7AF7F4AF}"/>
              </a:ext>
            </a:extLst>
          </p:cNvPr>
          <p:cNvSpPr>
            <a:spLocks xmlns:a="http://schemas.openxmlformats.org/drawingml/2006/main" noGrp="1"/>
          </p:cNvSpPr>
          <p:nvPr/>
        </p:nvSpPr>
        <p:spPr>
          <a:xfrm xmlns:a="http://schemas.openxmlformats.org/drawingml/2006/main">
            <a:off x="6477000" y="200025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9"/>
                </a:solidFill>
                <a:latin typeface="Helvetica Neue"/>
                <a:ea typeface="Helvetica Neue"/>
                <a:cs typeface="Helvetica Neue"/>
              </a:defRPr>
            </a:pPr>
            <a:r>
              <a:rPr sz="2400" b="1">
                <a:solidFill>
                  <a:srgbClr val="087F89"/>
                </a:solidFill>
                <a:latin typeface="Helvetica Neue"/>
                <a:ea typeface="Helvetica Neue"/>
                <a:cs typeface="Helvetica Neue"/>
              </a:rPr>
              <a:t>index.js</a:t>
            </a:r>
          </a:p>
        </p:txBody>
      </p:sp>
      <p:sp>
        <p:nvSpPr>
          <p:cNvPr id="6" name="">
            <a:extLst xmlns:a="http://schemas.openxmlformats.org/drawingml/2006/main">
              <a:ext uri="{FF2B5EF4-FFF2-40B4-BE49-F238E27FC236}">
                <a16:creationId xmlns:a16="http://schemas.microsoft.com/office/drawing/2014/main" id="{21F8F82E-B2EE-40D2-8AB6-D04BB9A0925D}"/>
              </a:ext>
            </a:extLst>
          </p:cNvPr>
          <p:cNvSpPr>
            <a:spLocks xmlns:a="http://schemas.openxmlformats.org/drawingml/2006/main" noGrp="1"/>
          </p:cNvSpPr>
          <p:nvPr/>
        </p:nvSpPr>
        <p:spPr>
          <a:xfrm xmlns:a="http://schemas.openxmlformats.org/drawingml/2006/main">
            <a:off x="6477000" y="2762250"/>
            <a:ext cx="4857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Self-contained source logic</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globalThis handler exports</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Network calls through fetchv2</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No Node or browser DOM dependency</a:t>
            </a:r>
          </a:p>
        </p:txBody>
      </p:sp>
      <p:sp>
        <p:nvSpPr>
          <p:cNvPr id="7" name="">
            <a:extLst xmlns:a="http://schemas.openxmlformats.org/drawingml/2006/main">
              <a:ext uri="{FF2B5EF4-FFF2-40B4-BE49-F238E27FC236}">
                <a16:creationId xmlns:a16="http://schemas.microsoft.com/office/drawing/2014/main" id="{27AA8EF8-867D-4A9C-A761-1D70410576B5}"/>
              </a:ext>
            </a:extLst>
          </p:cNvPr>
          <p:cNvSpPr>
            <a:spLocks xmlns:a="http://schemas.openxmlformats.org/drawingml/2006/main" noGrp="1"/>
          </p:cNvSpPr>
          <p:nvPr/>
        </p:nvSpPr>
        <p:spPr>
          <a:xfrm xmlns:a="http://schemas.openxmlformats.org/drawingml/2006/main">
            <a:off x="685800" y="56959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3473D"/>
                </a:solidFill>
                <a:latin typeface="Helvetica Neue"/>
                <a:ea typeface="Helvetica Neue"/>
                <a:cs typeface="Helvetica Neue"/>
              </a:defRPr>
            </a:pPr>
            <a:r>
              <a:rPr sz="1800" b="0">
                <a:solidFill>
                  <a:srgbClr val="C3473D"/>
                </a:solidFill>
                <a:latin typeface="Helvetica Neue"/>
                <a:ea typeface="Helvetica Neue"/>
                <a:cs typeface="Helvetica Neue"/>
              </a:rPr>
              <a:t>The module ZIP contains these files at its root. The workshop ZIP contains the entire kit.</a:t>
            </a:r>
          </a:p>
        </p:txBody>
      </p:sp>
    </p:spTree>
    <p:extLst>
      <p:ext uri="{BB962C8B-B14F-4D97-AF65-F5344CB8AC3E}">
        <p14:creationId xmlns:p14="http://schemas.microsoft.com/office/powerpoint/2010/main" val="6856699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5CAD19E-F1B1-4F11-919B-A265627244D0}"/>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The kit on your computer</a:t>
            </a:r>
          </a:p>
        </p:txBody>
      </p:sp>
      <p:sp>
        <p:nvSpPr>
          <p:cNvPr id="2" name="">
            <a:extLst xmlns:a="http://schemas.openxmlformats.org/drawingml/2006/main">
              <a:ext uri="{FF2B5EF4-FFF2-40B4-BE49-F238E27FC236}">
                <a16:creationId xmlns:a16="http://schemas.microsoft.com/office/drawing/2014/main" id="{20BB439A-6623-4079-9EE1-546DD37509F0}"/>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30436922-1A42-46AA-82BF-1D25BBF5846E}"/>
              </a:ext>
            </a:extLst>
          </p:cNvPr>
          <p:cNvSpPr>
            <a:spLocks xmlns:a="http://schemas.openxmlformats.org/drawingml/2006/main" noGrp="1"/>
          </p:cNvSpPr>
          <p:nvPr/>
        </p:nvSpPr>
        <p:spPr>
          <a:xfrm xmlns:a="http://schemas.openxmlformats.org/drawingml/2006/main">
            <a:off x="685800" y="17621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README + prompts</a:t>
            </a:r>
          </a:p>
        </p:txBody>
      </p:sp>
      <p:sp>
        <p:nvSpPr>
          <p:cNvPr id="4" name="">
            <a:extLst xmlns:a="http://schemas.openxmlformats.org/drawingml/2006/main">
              <a:ext uri="{FF2B5EF4-FFF2-40B4-BE49-F238E27FC236}">
                <a16:creationId xmlns:a16="http://schemas.microsoft.com/office/drawing/2014/main" id="{43790D9C-C586-4D12-A220-FC7E8B393F06}"/>
              </a:ext>
            </a:extLst>
          </p:cNvPr>
          <p:cNvSpPr>
            <a:spLocks xmlns:a="http://schemas.openxmlformats.org/drawingml/2006/main" noGrp="1"/>
          </p:cNvSpPr>
          <p:nvPr/>
        </p:nvSpPr>
        <p:spPr>
          <a:xfrm xmlns:a="http://schemas.openxmlformats.org/drawingml/2006/main">
            <a:off x="3762375" y="17621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Setup, scope, research questions and build instructions.</a:t>
            </a:r>
          </a:p>
        </p:txBody>
      </p:sp>
      <p:sp>
        <p:nvSpPr>
          <p:cNvPr id="5" name="">
            <a:extLst xmlns:a="http://schemas.openxmlformats.org/drawingml/2006/main">
              <a:ext uri="{FF2B5EF4-FFF2-40B4-BE49-F238E27FC236}">
                <a16:creationId xmlns:a16="http://schemas.microsoft.com/office/drawing/2014/main" id="{7583DA9B-ADEC-42D1-811C-21C5D9026B53}"/>
              </a:ext>
            </a:extLst>
          </p:cNvPr>
          <p:cNvSpPr>
            <a:spLocks xmlns:a="http://schemas.openxmlformats.org/drawingml/2006/main" noGrp="1"/>
          </p:cNvSpPr>
          <p:nvPr/>
        </p:nvSpPr>
        <p:spPr>
          <a:xfrm xmlns:a="http://schemas.openxmlformats.org/drawingml/2006/main">
            <a:off x="685800" y="2809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templates + examples</a:t>
            </a:r>
          </a:p>
        </p:txBody>
      </p:sp>
      <p:sp>
        <p:nvSpPr>
          <p:cNvPr id="6" name="">
            <a:extLst xmlns:a="http://schemas.openxmlformats.org/drawingml/2006/main">
              <a:ext uri="{FF2B5EF4-FFF2-40B4-BE49-F238E27FC236}">
                <a16:creationId xmlns:a16="http://schemas.microsoft.com/office/drawing/2014/main" id="{771E461F-906B-4ACD-A6D3-EBB186EA1B36}"/>
              </a:ext>
            </a:extLst>
          </p:cNvPr>
          <p:cNvSpPr>
            <a:spLocks xmlns:a="http://schemas.openxmlformats.org/drawingml/2006/main" noGrp="1"/>
          </p:cNvSpPr>
          <p:nvPr/>
        </p:nvSpPr>
        <p:spPr>
          <a:xfrm xmlns:a="http://schemas.openxmlformats.org/drawingml/2006/main">
            <a:off x="3762375" y="28098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Incomplete starters and historical source code to study.</a:t>
            </a:r>
          </a:p>
        </p:txBody>
      </p:sp>
      <p:sp>
        <p:nvSpPr>
          <p:cNvPr id="7" name="">
            <a:extLst xmlns:a="http://schemas.openxmlformats.org/drawingml/2006/main">
              <a:ext uri="{FF2B5EF4-FFF2-40B4-BE49-F238E27FC236}">
                <a16:creationId xmlns:a16="http://schemas.microsoft.com/office/drawing/2014/main" id="{6442AF14-02B2-47E4-9A0D-2626FD9C56DB}"/>
              </a:ext>
            </a:extLst>
          </p:cNvPr>
          <p:cNvSpPr>
            <a:spLocks xmlns:a="http://schemas.openxmlformats.org/drawingml/2006/main" noGrp="1"/>
          </p:cNvSpPr>
          <p:nvPr/>
        </p:nvSpPr>
        <p:spPr>
          <a:xfrm xmlns:a="http://schemas.openxmlformats.org/drawingml/2006/main">
            <a:off x="685800" y="3857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tools + tests</a:t>
            </a:r>
          </a:p>
        </p:txBody>
      </p:sp>
      <p:sp>
        <p:nvSpPr>
          <p:cNvPr id="8" name="">
            <a:extLst xmlns:a="http://schemas.openxmlformats.org/drawingml/2006/main">
              <a:ext uri="{FF2B5EF4-FFF2-40B4-BE49-F238E27FC236}">
                <a16:creationId xmlns:a16="http://schemas.microsoft.com/office/drawing/2014/main" id="{CD91FA49-219F-404A-A61F-611B0B62B7C5}"/>
              </a:ext>
            </a:extLst>
          </p:cNvPr>
          <p:cNvSpPr>
            <a:spLocks xmlns:a="http://schemas.openxmlformats.org/drawingml/2006/main" noGrp="1"/>
          </p:cNvSpPr>
          <p:nvPr/>
        </p:nvSpPr>
        <p:spPr>
          <a:xfrm xmlns:a="http://schemas.openxmlformats.org/drawingml/2006/main">
            <a:off x="3762375" y="38576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Local checks, bounded media sampling and ZIP packaging.</a:t>
            </a:r>
          </a:p>
        </p:txBody>
      </p:sp>
      <p:sp>
        <p:nvSpPr>
          <p:cNvPr id="9" name="">
            <a:extLst xmlns:a="http://schemas.openxmlformats.org/drawingml/2006/main">
              <a:ext uri="{FF2B5EF4-FFF2-40B4-BE49-F238E27FC236}">
                <a16:creationId xmlns:a16="http://schemas.microsoft.com/office/drawing/2014/main" id="{519CCFF6-AA27-4F0B-AE01-A8BFB0157A9F}"/>
              </a:ext>
            </a:extLst>
          </p:cNvPr>
          <p:cNvSpPr>
            <a:spLocks xmlns:a="http://schemas.openxmlformats.org/drawingml/2006/main" noGrp="1"/>
          </p:cNvSpPr>
          <p:nvPr/>
        </p:nvSpPr>
        <p:spPr>
          <a:xfrm xmlns:a="http://schemas.openxmlformats.org/drawingml/2006/main">
            <a:off x="685800" y="49053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reference + docs</a:t>
            </a:r>
          </a:p>
        </p:txBody>
      </p:sp>
      <p:sp>
        <p:nvSpPr>
          <p:cNvPr id="10" name="">
            <a:extLst xmlns:a="http://schemas.openxmlformats.org/drawingml/2006/main">
              <a:ext uri="{FF2B5EF4-FFF2-40B4-BE49-F238E27FC236}">
                <a16:creationId xmlns:a16="http://schemas.microsoft.com/office/drawing/2014/main" id="{8C6DBFD5-A38B-4159-9FF4-BC14F1EE0D2F}"/>
              </a:ext>
            </a:extLst>
          </p:cNvPr>
          <p:cNvSpPr>
            <a:spLocks xmlns:a="http://schemas.openxmlformats.org/drawingml/2006/main" noGrp="1"/>
          </p:cNvSpPr>
          <p:nvPr/>
        </p:nvSpPr>
        <p:spPr>
          <a:xfrm xmlns:a="http://schemas.openxmlformats.org/drawingml/2006/main">
            <a:off x="3762375" y="49053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Return shapes, discovery rules and your test report template.</a:t>
            </a:r>
          </a:p>
        </p:txBody>
      </p:sp>
    </p:spTree>
    <p:extLst>
      <p:ext uri="{BB962C8B-B14F-4D97-AF65-F5344CB8AC3E}">
        <p14:creationId xmlns:p14="http://schemas.microsoft.com/office/powerpoint/2010/main" val="12444726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0F4F1D-70CD-4612-A3AB-C9FD06D1A92A}"/>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Before the first agent session</a:t>
            </a:r>
          </a:p>
        </p:txBody>
      </p:sp>
      <p:sp>
        <p:nvSpPr>
          <p:cNvPr id="2" name="">
            <a:extLst xmlns:a="http://schemas.openxmlformats.org/drawingml/2006/main">
              <a:ext uri="{FF2B5EF4-FFF2-40B4-BE49-F238E27FC236}">
                <a16:creationId xmlns:a16="http://schemas.microsoft.com/office/drawing/2014/main" id="{A192C648-0212-4BCC-A306-8660CE5FA2EB}"/>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972901C7-CA20-4DB9-85A5-9A5EBE3F57B0}"/>
              </a:ext>
            </a:extLst>
          </p:cNvPr>
          <p:cNvSpPr>
            <a:spLocks xmlns:a="http://schemas.openxmlformats.org/drawingml/2006/main" noGrp="1"/>
          </p:cNvSpPr>
          <p:nvPr/>
        </p:nvSpPr>
        <p:spPr>
          <a:xfrm xmlns:a="http://schemas.openxmlformats.org/drawingml/2006/main">
            <a:off x="685800" y="17621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Extract</a:t>
            </a:r>
          </a:p>
        </p:txBody>
      </p:sp>
      <p:sp>
        <p:nvSpPr>
          <p:cNvPr id="4" name="">
            <a:extLst xmlns:a="http://schemas.openxmlformats.org/drawingml/2006/main">
              <a:ext uri="{FF2B5EF4-FFF2-40B4-BE49-F238E27FC236}">
                <a16:creationId xmlns:a16="http://schemas.microsoft.com/office/drawing/2014/main" id="{5224B6CE-44E9-48D1-8653-53E9D5279813}"/>
              </a:ext>
            </a:extLst>
          </p:cNvPr>
          <p:cNvSpPr>
            <a:spLocks xmlns:a="http://schemas.openxmlformats.org/drawingml/2006/main" noGrp="1"/>
          </p:cNvSpPr>
          <p:nvPr/>
        </p:nvSpPr>
        <p:spPr>
          <a:xfrm xmlns:a="http://schemas.openxmlformats.org/drawingml/2006/main">
            <a:off x="3762375" y="17621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Open the extracted kit folder, not the ZIP or your production app.</a:t>
            </a:r>
          </a:p>
        </p:txBody>
      </p:sp>
      <p:sp>
        <p:nvSpPr>
          <p:cNvPr id="5" name="">
            <a:extLst xmlns:a="http://schemas.openxmlformats.org/drawingml/2006/main">
              <a:ext uri="{FF2B5EF4-FFF2-40B4-BE49-F238E27FC236}">
                <a16:creationId xmlns:a16="http://schemas.microsoft.com/office/drawing/2014/main" id="{75A0435D-9554-42BE-8079-511B0989C0A8}"/>
              </a:ext>
            </a:extLst>
          </p:cNvPr>
          <p:cNvSpPr>
            <a:spLocks xmlns:a="http://schemas.openxmlformats.org/drawingml/2006/main" noGrp="1"/>
          </p:cNvSpPr>
          <p:nvPr/>
        </p:nvSpPr>
        <p:spPr>
          <a:xfrm xmlns:a="http://schemas.openxmlformats.org/drawingml/2006/main">
            <a:off x="685800" y="2809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Node.js</a:t>
            </a:r>
          </a:p>
        </p:txBody>
      </p:sp>
      <p:sp>
        <p:nvSpPr>
          <p:cNvPr id="6" name="">
            <a:extLst xmlns:a="http://schemas.openxmlformats.org/drawingml/2006/main">
              <a:ext uri="{FF2B5EF4-FFF2-40B4-BE49-F238E27FC236}">
                <a16:creationId xmlns:a16="http://schemas.microsoft.com/office/drawing/2014/main" id="{3CCD7BA3-6B7E-492E-B2CD-723CBA722D83}"/>
              </a:ext>
            </a:extLst>
          </p:cNvPr>
          <p:cNvSpPr>
            <a:spLocks xmlns:a="http://schemas.openxmlformats.org/drawingml/2006/main" noGrp="1"/>
          </p:cNvSpPr>
          <p:nvPr/>
        </p:nvSpPr>
        <p:spPr>
          <a:xfrm xmlns:a="http://schemas.openxmlformats.org/drawingml/2006/main">
            <a:off x="3762375" y="28098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Use a supported LTS version, 22+. Check node --version.</a:t>
            </a:r>
          </a:p>
        </p:txBody>
      </p:sp>
      <p:sp>
        <p:nvSpPr>
          <p:cNvPr id="7" name="">
            <a:extLst xmlns:a="http://schemas.openxmlformats.org/drawingml/2006/main">
              <a:ext uri="{FF2B5EF4-FFF2-40B4-BE49-F238E27FC236}">
                <a16:creationId xmlns:a16="http://schemas.microsoft.com/office/drawing/2014/main" id="{6F42B6CF-0DB9-47AD-848B-8ED237E450DC}"/>
              </a:ext>
            </a:extLst>
          </p:cNvPr>
          <p:cNvSpPr>
            <a:spLocks xmlns:a="http://schemas.openxmlformats.org/drawingml/2006/main" noGrp="1"/>
          </p:cNvSpPr>
          <p:nvPr/>
        </p:nvSpPr>
        <p:spPr>
          <a:xfrm xmlns:a="http://schemas.openxmlformats.org/drawingml/2006/main">
            <a:off x="685800" y="3857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Agent access</a:t>
            </a:r>
          </a:p>
        </p:txBody>
      </p:sp>
      <p:sp>
        <p:nvSpPr>
          <p:cNvPr id="8" name="">
            <a:extLst xmlns:a="http://schemas.openxmlformats.org/drawingml/2006/main">
              <a:ext uri="{FF2B5EF4-FFF2-40B4-BE49-F238E27FC236}">
                <a16:creationId xmlns:a16="http://schemas.microsoft.com/office/drawing/2014/main" id="{A125E7D5-506B-4FAD-9B92-C2ABF85A561D}"/>
              </a:ext>
            </a:extLst>
          </p:cNvPr>
          <p:cNvSpPr>
            <a:spLocks xmlns:a="http://schemas.openxmlformats.org/drawingml/2006/main" noGrp="1"/>
          </p:cNvSpPr>
          <p:nvPr/>
        </p:nvSpPr>
        <p:spPr>
          <a:xfrm xmlns:a="http://schemas.openxmlformats.org/drawingml/2006/main">
            <a:off x="3762375" y="38576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Use your own account. Keep approval prompts and spending limits.</a:t>
            </a:r>
          </a:p>
        </p:txBody>
      </p:sp>
      <p:sp>
        <p:nvSpPr>
          <p:cNvPr id="9" name="">
            <a:extLst xmlns:a="http://schemas.openxmlformats.org/drawingml/2006/main">
              <a:ext uri="{FF2B5EF4-FFF2-40B4-BE49-F238E27FC236}">
                <a16:creationId xmlns:a16="http://schemas.microsoft.com/office/drawing/2014/main" id="{4379049C-51CC-4FB2-9C84-91CDD573645E}"/>
              </a:ext>
            </a:extLst>
          </p:cNvPr>
          <p:cNvSpPr>
            <a:spLocks xmlns:a="http://schemas.openxmlformats.org/drawingml/2006/main" noGrp="1"/>
          </p:cNvSpPr>
          <p:nvPr/>
        </p:nvSpPr>
        <p:spPr>
          <a:xfrm xmlns:a="http://schemas.openxmlformats.org/drawingml/2006/main">
            <a:off x="685800" y="49053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Source permission</a:t>
            </a:r>
          </a:p>
        </p:txBody>
      </p:sp>
      <p:sp>
        <p:nvSpPr>
          <p:cNvPr id="10" name="">
            <a:extLst xmlns:a="http://schemas.openxmlformats.org/drawingml/2006/main">
              <a:ext uri="{FF2B5EF4-FFF2-40B4-BE49-F238E27FC236}">
                <a16:creationId xmlns:a16="http://schemas.microsoft.com/office/drawing/2014/main" id="{0CA8D7D3-D4FD-476A-8B75-6CF38CCAE182}"/>
              </a:ext>
            </a:extLst>
          </p:cNvPr>
          <p:cNvSpPr>
            <a:spLocks xmlns:a="http://schemas.openxmlformats.org/drawingml/2006/main" noGrp="1"/>
          </p:cNvSpPr>
          <p:nvPr/>
        </p:nvSpPr>
        <p:spPr>
          <a:xfrm xmlns:a="http://schemas.openxmlformats.org/drawingml/2006/main">
            <a:off x="3762375" y="49053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Choose content and APIs you are allowed to access and distribute.</a:t>
            </a:r>
          </a:p>
        </p:txBody>
      </p:sp>
    </p:spTree>
    <p:extLst>
      <p:ext uri="{BB962C8B-B14F-4D97-AF65-F5344CB8AC3E}">
        <p14:creationId xmlns:p14="http://schemas.microsoft.com/office/powerpoint/2010/main" val="7170712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B54A93-DC9C-4921-B7B6-48BD8D64F38A}"/>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Codex workflow</a:t>
            </a:r>
          </a:p>
        </p:txBody>
      </p:sp>
      <p:sp>
        <p:nvSpPr>
          <p:cNvPr id="2" name="">
            <a:extLst xmlns:a="http://schemas.openxmlformats.org/drawingml/2006/main">
              <a:ext uri="{FF2B5EF4-FFF2-40B4-BE49-F238E27FC236}">
                <a16:creationId xmlns:a16="http://schemas.microsoft.com/office/drawing/2014/main" id="{AD01AC1C-5707-42F4-8F97-3D7FFC559EC5}"/>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90AEC3DF-1E65-429A-99D0-6C1CF7B02FBE}"/>
              </a:ext>
            </a:extLst>
          </p:cNvPr>
          <p:cNvSpPr>
            <a:spLocks xmlns:a="http://schemas.openxmlformats.org/drawingml/2006/main" noGrp="1"/>
          </p:cNvSpPr>
          <p:nvPr/>
        </p:nvSpPr>
        <p:spPr>
          <a:xfrm xmlns:a="http://schemas.openxmlformats.org/drawingml/2006/main">
            <a:off x="685800" y="185737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87F89"/>
                </a:solidFill>
                <a:latin typeface="Helvetica Neue"/>
                <a:ea typeface="Helvetica Neue"/>
                <a:cs typeface="Helvetica Neue"/>
              </a:defRPr>
            </a:pPr>
            <a:r>
              <a:rPr sz="2625" b="1">
                <a:solidFill>
                  <a:srgbClr val="087F89"/>
                </a:solidFill>
                <a:latin typeface="Helvetica Neue"/>
                <a:ea typeface="Helvetica Neue"/>
                <a:cs typeface="Helvetica Neue"/>
              </a:rPr>
              <a:t>npm install -g @openai/codex</a:t>
            </a:r>
          </a:p>
          <a:p xmlns:a="http://schemas.openxmlformats.org/drawingml/2006/main">
            <a:pPr>
              <a:defRPr sz="2625" b="1">
                <a:solidFill>
                  <a:srgbClr val="087F89"/>
                </a:solidFill>
                <a:latin typeface="Helvetica Neue"/>
                <a:ea typeface="Helvetica Neue"/>
                <a:cs typeface="Helvetica Neue"/>
              </a:defRPr>
            </a:pPr>
            <a:r>
              <a:rPr sz="2625" b="1">
                <a:solidFill>
                  <a:srgbClr val="087F89"/>
                </a:solidFill>
                <a:latin typeface="Helvetica Neue"/>
                <a:ea typeface="Helvetica Neue"/>
                <a:cs typeface="Helvetica Neue"/>
              </a:rPr>
              <a:t>codex</a:t>
            </a:r>
          </a:p>
        </p:txBody>
      </p:sp>
      <p:sp>
        <p:nvSpPr>
          <p:cNvPr id="4" name="">
            <a:extLst xmlns:a="http://schemas.openxmlformats.org/drawingml/2006/main">
              <a:ext uri="{FF2B5EF4-FFF2-40B4-BE49-F238E27FC236}">
                <a16:creationId xmlns:a16="http://schemas.microsoft.com/office/drawing/2014/main" id="{98C956B5-388E-488C-9A1A-00409EB85853}"/>
              </a:ext>
            </a:extLst>
          </p:cNvPr>
          <p:cNvSpPr>
            <a:spLocks xmlns:a="http://schemas.openxmlformats.org/drawingml/2006/main" noGrp="1"/>
          </p:cNvSpPr>
          <p:nvPr/>
        </p:nvSpPr>
        <p:spPr>
          <a:xfrm xmlns:a="http://schemas.openxmlformats.org/drawingml/2006/main">
            <a:off x="685800" y="3457575"/>
            <a:ext cx="1057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Open the kit folder and sign in.</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Ask Codex to read AGENTS.md and SYSTEM_PROMPT.md.</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Send the research prompt, review the plan, then approve the build.</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Review the changed files and run the checks.</a:t>
            </a:r>
          </a:p>
        </p:txBody>
      </p:sp>
    </p:spTree>
    <p:extLst>
      <p:ext uri="{BB962C8B-B14F-4D97-AF65-F5344CB8AC3E}">
        <p14:creationId xmlns:p14="http://schemas.microsoft.com/office/powerpoint/2010/main" val="14109924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A900C1-4206-4A62-A73D-778C0B06E842}"/>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OpenCode workflow</a:t>
            </a:r>
          </a:p>
        </p:txBody>
      </p:sp>
      <p:sp>
        <p:nvSpPr>
          <p:cNvPr id="2" name="">
            <a:extLst xmlns:a="http://schemas.openxmlformats.org/drawingml/2006/main">
              <a:ext uri="{FF2B5EF4-FFF2-40B4-BE49-F238E27FC236}">
                <a16:creationId xmlns:a16="http://schemas.microsoft.com/office/drawing/2014/main" id="{2254A181-457F-4CE9-A19A-D7931087DE94}"/>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1BF03865-234C-47BE-BA0B-83008F02E8CB}"/>
              </a:ext>
            </a:extLst>
          </p:cNvPr>
          <p:cNvSpPr>
            <a:spLocks xmlns:a="http://schemas.openxmlformats.org/drawingml/2006/main" noGrp="1"/>
          </p:cNvSpPr>
          <p:nvPr/>
        </p:nvSpPr>
        <p:spPr>
          <a:xfrm xmlns:a="http://schemas.openxmlformats.org/drawingml/2006/main">
            <a:off x="685800" y="185737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87F89"/>
                </a:solidFill>
                <a:latin typeface="Helvetica Neue"/>
                <a:ea typeface="Helvetica Neue"/>
                <a:cs typeface="Helvetica Neue"/>
              </a:defRPr>
            </a:pPr>
            <a:r>
              <a:rPr sz="2625" b="1">
                <a:solidFill>
                  <a:srgbClr val="087F89"/>
                </a:solidFill>
                <a:latin typeface="Helvetica Neue"/>
                <a:ea typeface="Helvetica Neue"/>
                <a:cs typeface="Helvetica Neue"/>
              </a:rPr>
              <a:t>npm install -g opencode-ai</a:t>
            </a:r>
          </a:p>
          <a:p xmlns:a="http://schemas.openxmlformats.org/drawingml/2006/main">
            <a:pPr>
              <a:defRPr sz="2625" b="1">
                <a:solidFill>
                  <a:srgbClr val="087F89"/>
                </a:solidFill>
                <a:latin typeface="Helvetica Neue"/>
                <a:ea typeface="Helvetica Neue"/>
                <a:cs typeface="Helvetica Neue"/>
              </a:defRPr>
            </a:pPr>
            <a:r>
              <a:rPr sz="2625" b="1">
                <a:solidFill>
                  <a:srgbClr val="087F89"/>
                </a:solidFill>
                <a:latin typeface="Helvetica Neue"/>
                <a:ea typeface="Helvetica Neue"/>
                <a:cs typeface="Helvetica Neue"/>
              </a:rPr>
              <a:t>opencode</a:t>
            </a:r>
          </a:p>
        </p:txBody>
      </p:sp>
      <p:sp>
        <p:nvSpPr>
          <p:cNvPr id="4" name="">
            <a:extLst xmlns:a="http://schemas.openxmlformats.org/drawingml/2006/main">
              <a:ext uri="{FF2B5EF4-FFF2-40B4-BE49-F238E27FC236}">
                <a16:creationId xmlns:a16="http://schemas.microsoft.com/office/drawing/2014/main" id="{B2AF23C1-6C4C-45F6-98FC-8B53BC97BEB5}"/>
              </a:ext>
            </a:extLst>
          </p:cNvPr>
          <p:cNvSpPr>
            <a:spLocks xmlns:a="http://schemas.openxmlformats.org/drawingml/2006/main" noGrp="1"/>
          </p:cNvSpPr>
          <p:nvPr/>
        </p:nvSpPr>
        <p:spPr>
          <a:xfrm xmlns:a="http://schemas.openxmlformats.org/drawingml/2006/main">
            <a:off x="685800" y="3457575"/>
            <a:ext cx="1057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Run /connect and choose your model provider.</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Open the kit files as context.</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Use Plan mode for research, then Build after approval.</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Run the same kit tests and packaging commands.</a:t>
            </a:r>
          </a:p>
        </p:txBody>
      </p:sp>
    </p:spTree>
    <p:extLst>
      <p:ext uri="{BB962C8B-B14F-4D97-AF65-F5344CB8AC3E}">
        <p14:creationId xmlns:p14="http://schemas.microsoft.com/office/powerpoint/2010/main" val="14476526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19F3B5-685E-4096-8C88-BFF9A946C3E7}"/>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Hermes Agent workflow</a:t>
            </a:r>
          </a:p>
        </p:txBody>
      </p:sp>
      <p:sp>
        <p:nvSpPr>
          <p:cNvPr id="2" name="">
            <a:extLst xmlns:a="http://schemas.openxmlformats.org/drawingml/2006/main">
              <a:ext uri="{FF2B5EF4-FFF2-40B4-BE49-F238E27FC236}">
                <a16:creationId xmlns:a16="http://schemas.microsoft.com/office/drawing/2014/main" id="{D58BED08-16EA-4D1B-9AFB-EA3D1D951694}"/>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5AF158B8-D263-4C31-86D9-BEC785CC9E8E}"/>
              </a:ext>
            </a:extLst>
          </p:cNvPr>
          <p:cNvSpPr>
            <a:spLocks xmlns:a="http://schemas.openxmlformats.org/drawingml/2006/main" noGrp="1"/>
          </p:cNvSpPr>
          <p:nvPr/>
        </p:nvSpPr>
        <p:spPr>
          <a:xfrm xmlns:a="http://schemas.openxmlformats.org/drawingml/2006/main">
            <a:off x="685800" y="185737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87F89"/>
                </a:solidFill>
                <a:latin typeface="Helvetica Neue"/>
                <a:ea typeface="Helvetica Neue"/>
                <a:cs typeface="Helvetica Neue"/>
              </a:defRPr>
            </a:pPr>
            <a:r>
              <a:rPr sz="2625" b="1">
                <a:solidFill>
                  <a:srgbClr val="087F89"/>
                </a:solidFill>
                <a:latin typeface="Helvetica Neue"/>
                <a:ea typeface="Helvetica Neue"/>
                <a:cs typeface="Helvetica Neue"/>
              </a:rPr>
              <a:t>hermes setup</a:t>
            </a:r>
          </a:p>
          <a:p xmlns:a="http://schemas.openxmlformats.org/drawingml/2006/main">
            <a:pPr>
              <a:defRPr sz="2625" b="1">
                <a:solidFill>
                  <a:srgbClr val="087F89"/>
                </a:solidFill>
                <a:latin typeface="Helvetica Neue"/>
                <a:ea typeface="Helvetica Neue"/>
                <a:cs typeface="Helvetica Neue"/>
              </a:defRPr>
            </a:pPr>
            <a:r>
              <a:rPr sz="2625" b="1">
                <a:solidFill>
                  <a:srgbClr val="087F89"/>
                </a:solidFill>
                <a:latin typeface="Helvetica Neue"/>
                <a:ea typeface="Helvetica Neue"/>
                <a:cs typeface="Helvetica Neue"/>
              </a:rPr>
              <a:t>hermes</a:t>
            </a:r>
          </a:p>
        </p:txBody>
      </p:sp>
      <p:sp>
        <p:nvSpPr>
          <p:cNvPr id="4" name="">
            <a:extLst xmlns:a="http://schemas.openxmlformats.org/drawingml/2006/main">
              <a:ext uri="{FF2B5EF4-FFF2-40B4-BE49-F238E27FC236}">
                <a16:creationId xmlns:a16="http://schemas.microsoft.com/office/drawing/2014/main" id="{62545359-2EC1-4210-9426-A88F08E81300}"/>
              </a:ext>
            </a:extLst>
          </p:cNvPr>
          <p:cNvSpPr>
            <a:spLocks xmlns:a="http://schemas.openxmlformats.org/drawingml/2006/main" noGrp="1"/>
          </p:cNvSpPr>
          <p:nvPr/>
        </p:nvSpPr>
        <p:spPr>
          <a:xfrm xmlns:a="http://schemas.openxmlformats.org/drawingml/2006/main">
            <a:off x="685800" y="3457575"/>
            <a:ext cx="1057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Install from the official Hermes website first.</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Configure your model, then start inside the kit folder.</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Ask Hermes to read the kit and report its working directory.</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Use the research prompt, then approve the build prompt.</a:t>
            </a:r>
          </a:p>
        </p:txBody>
      </p:sp>
    </p:spTree>
    <p:extLst>
      <p:ext uri="{BB962C8B-B14F-4D97-AF65-F5344CB8AC3E}">
        <p14:creationId xmlns:p14="http://schemas.microsoft.com/office/powerpoint/2010/main" val="18347578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E2A59F-6A94-4EA9-B463-E2660FD36A12}"/>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The first request to your agent</a:t>
            </a:r>
          </a:p>
        </p:txBody>
      </p:sp>
      <p:sp>
        <p:nvSpPr>
          <p:cNvPr id="2" name="">
            <a:extLst xmlns:a="http://schemas.openxmlformats.org/drawingml/2006/main">
              <a:ext uri="{FF2B5EF4-FFF2-40B4-BE49-F238E27FC236}">
                <a16:creationId xmlns:a16="http://schemas.microsoft.com/office/drawing/2014/main" id="{D3300E79-D8BD-4E52-BAF0-8D097F867C56}"/>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07CD9644-B258-4637-A92F-E2F14323CDAF}"/>
              </a:ext>
            </a:extLst>
          </p:cNvPr>
          <p:cNvSpPr>
            <a:spLocks xmlns:a="http://schemas.openxmlformats.org/drawingml/2006/main" noGrp="1"/>
          </p:cNvSpPr>
          <p:nvPr/>
        </p:nvSpPr>
        <p:spPr>
          <a:xfrm xmlns:a="http://schemas.openxmlformats.org/drawingml/2006/main">
            <a:off x="685800" y="19050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87F89"/>
                </a:solidFill>
                <a:latin typeface="Helvetica Neue"/>
                <a:ea typeface="Helvetica Neue"/>
                <a:cs typeface="Helvetica Neue"/>
              </a:defRPr>
            </a:pPr>
            <a:r>
              <a:rPr sz="2775" b="1">
                <a:solidFill>
                  <a:srgbClr val="087F89"/>
                </a:solidFill>
                <a:latin typeface="Helvetica Neue"/>
                <a:ea typeface="Helvetica Neue"/>
                <a:cs typeface="Helvetica Neue"/>
              </a:rPr>
              <a:t>Read the kit first. Research only for now.</a:t>
            </a:r>
          </a:p>
        </p:txBody>
      </p:sp>
      <p:sp>
        <p:nvSpPr>
          <p:cNvPr id="4" name="">
            <a:extLst xmlns:a="http://schemas.openxmlformats.org/drawingml/2006/main">
              <a:ext uri="{FF2B5EF4-FFF2-40B4-BE49-F238E27FC236}">
                <a16:creationId xmlns:a16="http://schemas.microsoft.com/office/drawing/2014/main" id="{4D5B574E-E4CC-44AE-A1BA-A224D9CC9395}"/>
              </a:ext>
            </a:extLst>
          </p:cNvPr>
          <p:cNvSpPr>
            <a:spLocks xmlns:a="http://schemas.openxmlformats.org/drawingml/2006/main" noGrp="1"/>
          </p:cNvSpPr>
          <p:nvPr/>
        </p:nvSpPr>
        <p:spPr>
          <a:xfrm xmlns:a="http://schemas.openxmlformats.org/drawingml/2006/main">
            <a:off x="685800" y="2886075"/>
            <a:ext cx="104775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191B"/>
                </a:solidFill>
                <a:latin typeface="Helvetica Neue"/>
                <a:ea typeface="Helvetica Neue"/>
                <a:cs typeface="Helvetica Neue"/>
              </a:defRPr>
            </a:pPr>
            <a:r>
              <a:rPr sz="2325" b="0">
                <a:solidFill>
                  <a:srgbClr val="15191B"/>
                </a:solidFill>
                <a:latin typeface="Helvetica Neue"/>
                <a:ea typeface="Helvetica Neue"/>
                <a:cs typeface="Helvetica Neue"/>
              </a:rPr>
              <a:t>Source: [authorized URL]</a:t>
            </a:r>
          </a:p>
          <a:p xmlns:a="http://schemas.openxmlformats.org/drawingml/2006/main">
            <a:pPr>
              <a:defRPr sz="2325" b="0">
                <a:solidFill>
                  <a:srgbClr val="15191B"/>
                </a:solidFill>
                <a:latin typeface="Helvetica Neue"/>
                <a:ea typeface="Helvetica Neue"/>
                <a:cs typeface="Helvetica Neue"/>
              </a:defRPr>
            </a:pPr>
            <a:r>
              <a:rPr sz="2325" b="0">
                <a:solidFill>
                  <a:srgbClr val="15191B"/>
                </a:solidFill>
                <a:latin typeface="Helvetica Neue"/>
                <a:ea typeface="Helvetica Neue"/>
                <a:cs typeface="Helvetica Neue"/>
              </a:rPr>
              <a:t>Module name and type: [name / video or image]</a:t>
            </a:r>
          </a:p>
          <a:p xmlns:a="http://schemas.openxmlformats.org/drawingml/2006/main">
            <a:pPr>
              <a:defRPr sz="2325" b="0">
                <a:solidFill>
                  <a:srgbClr val="15191B"/>
                </a:solidFill>
                <a:latin typeface="Helvetica Neue"/>
                <a:ea typeface="Helvetica Neue"/>
                <a:cs typeface="Helvetica Neue"/>
              </a:defRPr>
            </a:pPr>
            <a:r>
              <a:rPr sz="2325" b="0">
                <a:solidFill>
                  <a:srgbClr val="15191B"/>
                </a:solidFill>
                <a:latin typeface="Helvetica Neue"/>
                <a:ea typeface="Helvetica Neue"/>
                <a:cs typeface="Helvetica Neue"/>
              </a:rPr>
              <a:t>Target: [Player version and device]</a:t>
            </a:r>
          </a:p>
          <a:p xmlns:a="http://schemas.openxmlformats.org/drawingml/2006/main">
            <a:pPr>
              <a:defRPr sz="2325" b="0">
                <a:solidFill>
                  <a:srgbClr val="15191B"/>
                </a:solidFill>
                <a:latin typeface="Helvetica Neue"/>
                <a:ea typeface="Helvetica Neue"/>
                <a:cs typeface="Helvetica Neue"/>
              </a:defRPr>
            </a:pPr>
            <a:r>
              <a:rPr sz="2325" b="0">
                <a:solidFill>
                  <a:srgbClr val="15191B"/>
                </a:solidFill>
                <a:latin typeface="Helvetica Neue"/>
                <a:ea typeface="Helvetica Neue"/>
                <a:cs typeface="Helvetica Neue"/>
              </a:rPr>
              <a:t>Explain the source flow, blockers and proposed tests.</a:t>
            </a:r>
          </a:p>
          <a:p xmlns:a="http://schemas.openxmlformats.org/drawingml/2006/main">
            <a:pPr>
              <a:defRPr sz="2325" b="0">
                <a:solidFill>
                  <a:srgbClr val="15191B"/>
                </a:solidFill>
                <a:latin typeface="Helvetica Neue"/>
                <a:ea typeface="Helvetica Neue"/>
                <a:cs typeface="Helvetica Neue"/>
              </a:defRPr>
            </a:pPr>
            <a:r>
              <a:rPr sz="2325" b="0">
                <a:solidFill>
                  <a:srgbClr val="15191B"/>
                </a:solidFill>
                <a:latin typeface="Helvetica Neue"/>
                <a:ea typeface="Helvetica Neue"/>
                <a:cs typeface="Helvetica Neue"/>
              </a:rPr>
              <a:t>Wait for my approval before writing code.</a:t>
            </a:r>
          </a:p>
        </p:txBody>
      </p:sp>
    </p:spTree>
    <p:extLst>
      <p:ext uri="{BB962C8B-B14F-4D97-AF65-F5344CB8AC3E}">
        <p14:creationId xmlns:p14="http://schemas.microsoft.com/office/powerpoint/2010/main" val="788110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4EF5E56-8207-4E41-8507-4D6DCEB4CE48}"/>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Research before implementation</a:t>
            </a:r>
          </a:p>
        </p:txBody>
      </p:sp>
      <p:sp>
        <p:nvSpPr>
          <p:cNvPr id="2" name="">
            <a:extLst xmlns:a="http://schemas.openxmlformats.org/drawingml/2006/main">
              <a:ext uri="{FF2B5EF4-FFF2-40B4-BE49-F238E27FC236}">
                <a16:creationId xmlns:a16="http://schemas.microsoft.com/office/drawing/2014/main" id="{F19042D0-612F-4FF9-A287-239E33EC71CA}"/>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99D98AE2-C911-44E6-AB06-498FF1590543}"/>
              </a:ext>
            </a:extLst>
          </p:cNvPr>
          <p:cNvSpPr>
            <a:spLocks xmlns:a="http://schemas.openxmlformats.org/drawingml/2006/main" noGrp="1"/>
          </p:cNvSpPr>
          <p:nvPr/>
        </p:nvSpPr>
        <p:spPr>
          <a:xfrm xmlns:a="http://schemas.openxmlformats.org/drawingml/2006/main">
            <a:off x="685800" y="17621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Catalogue</a:t>
            </a:r>
          </a:p>
        </p:txBody>
      </p:sp>
      <p:sp>
        <p:nvSpPr>
          <p:cNvPr id="4" name="">
            <a:extLst xmlns:a="http://schemas.openxmlformats.org/drawingml/2006/main">
              <a:ext uri="{FF2B5EF4-FFF2-40B4-BE49-F238E27FC236}">
                <a16:creationId xmlns:a16="http://schemas.microsoft.com/office/drawing/2014/main" id="{99E03C26-2A4E-406B-AC4C-B8FB538EA417}"/>
              </a:ext>
            </a:extLst>
          </p:cNvPr>
          <p:cNvSpPr>
            <a:spLocks xmlns:a="http://schemas.openxmlformats.org/drawingml/2006/main" noGrp="1"/>
          </p:cNvSpPr>
          <p:nvPr/>
        </p:nvSpPr>
        <p:spPr>
          <a:xfrm xmlns:a="http://schemas.openxmlformats.org/drawingml/2006/main">
            <a:off x="3762375" y="17621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Where do search results, posters and details come from?</a:t>
            </a:r>
          </a:p>
        </p:txBody>
      </p:sp>
      <p:sp>
        <p:nvSpPr>
          <p:cNvPr id="5" name="">
            <a:extLst xmlns:a="http://schemas.openxmlformats.org/drawingml/2006/main">
              <a:ext uri="{FF2B5EF4-FFF2-40B4-BE49-F238E27FC236}">
                <a16:creationId xmlns:a16="http://schemas.microsoft.com/office/drawing/2014/main" id="{C2CB23D4-890C-4701-BD44-C232AC40DABF}"/>
              </a:ext>
            </a:extLst>
          </p:cNvPr>
          <p:cNvSpPr>
            <a:spLocks xmlns:a="http://schemas.openxmlformats.org/drawingml/2006/main" noGrp="1"/>
          </p:cNvSpPr>
          <p:nvPr/>
        </p:nvSpPr>
        <p:spPr>
          <a:xfrm xmlns:a="http://schemas.openxmlformats.org/drawingml/2006/main">
            <a:off x="685800" y="2809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Identity</a:t>
            </a:r>
          </a:p>
        </p:txBody>
      </p:sp>
      <p:sp>
        <p:nvSpPr>
          <p:cNvPr id="6" name="">
            <a:extLst xmlns:a="http://schemas.openxmlformats.org/drawingml/2006/main">
              <a:ext uri="{FF2B5EF4-FFF2-40B4-BE49-F238E27FC236}">
                <a16:creationId xmlns:a16="http://schemas.microsoft.com/office/drawing/2014/main" id="{1742528D-5835-440D-853E-0B67C62AC61C}"/>
              </a:ext>
            </a:extLst>
          </p:cNvPr>
          <p:cNvSpPr>
            <a:spLocks xmlns:a="http://schemas.openxmlformats.org/drawingml/2006/main" noGrp="1"/>
          </p:cNvSpPr>
          <p:nvPr/>
        </p:nvSpPr>
        <p:spPr>
          <a:xfrm xmlns:a="http://schemas.openxmlformats.org/drawingml/2006/main">
            <a:off x="3762375" y="28098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How does the source identify the exact title, season and episode?</a:t>
            </a:r>
          </a:p>
        </p:txBody>
      </p:sp>
      <p:sp>
        <p:nvSpPr>
          <p:cNvPr id="7" name="">
            <a:extLst xmlns:a="http://schemas.openxmlformats.org/drawingml/2006/main">
              <a:ext uri="{FF2B5EF4-FFF2-40B4-BE49-F238E27FC236}">
                <a16:creationId xmlns:a16="http://schemas.microsoft.com/office/drawing/2014/main" id="{BCAEF882-2714-425D-A667-54A49C962156}"/>
              </a:ext>
            </a:extLst>
          </p:cNvPr>
          <p:cNvSpPr>
            <a:spLocks xmlns:a="http://schemas.openxmlformats.org/drawingml/2006/main" noGrp="1"/>
          </p:cNvSpPr>
          <p:nvPr/>
        </p:nvSpPr>
        <p:spPr>
          <a:xfrm xmlns:a="http://schemas.openxmlformats.org/drawingml/2006/main">
            <a:off x="685800" y="3857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Media</a:t>
            </a:r>
          </a:p>
        </p:txBody>
      </p:sp>
      <p:sp>
        <p:nvSpPr>
          <p:cNvPr id="8" name="">
            <a:extLst xmlns:a="http://schemas.openxmlformats.org/drawingml/2006/main">
              <a:ext uri="{FF2B5EF4-FFF2-40B4-BE49-F238E27FC236}">
                <a16:creationId xmlns:a16="http://schemas.microsoft.com/office/drawing/2014/main" id="{4F55E6B3-BE56-428E-AF2F-525B3A5FD0F1}"/>
              </a:ext>
            </a:extLst>
          </p:cNvPr>
          <p:cNvSpPr>
            <a:spLocks xmlns:a="http://schemas.openxmlformats.org/drawingml/2006/main" noGrp="1"/>
          </p:cNvSpPr>
          <p:nvPr/>
        </p:nvSpPr>
        <p:spPr>
          <a:xfrm xmlns:a="http://schemas.openxmlformats.org/drawingml/2006/main">
            <a:off x="3762375" y="38576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Which authorized route provides the actual video or page images?</a:t>
            </a:r>
          </a:p>
        </p:txBody>
      </p:sp>
      <p:sp>
        <p:nvSpPr>
          <p:cNvPr id="9" name="">
            <a:extLst xmlns:a="http://schemas.openxmlformats.org/drawingml/2006/main">
              <a:ext uri="{FF2B5EF4-FFF2-40B4-BE49-F238E27FC236}">
                <a16:creationId xmlns:a16="http://schemas.microsoft.com/office/drawing/2014/main" id="{A97B9A15-614F-4568-81BE-10D5E609F947}"/>
              </a:ext>
            </a:extLst>
          </p:cNvPr>
          <p:cNvSpPr>
            <a:spLocks xmlns:a="http://schemas.openxmlformats.org/drawingml/2006/main" noGrp="1"/>
          </p:cNvSpPr>
          <p:nvPr/>
        </p:nvSpPr>
        <p:spPr>
          <a:xfrm xmlns:a="http://schemas.openxmlformats.org/drawingml/2006/main">
            <a:off x="685800" y="49053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Limitations</a:t>
            </a:r>
          </a:p>
        </p:txBody>
      </p:sp>
      <p:sp>
        <p:nvSpPr>
          <p:cNvPr id="10" name="">
            <a:extLst xmlns:a="http://schemas.openxmlformats.org/drawingml/2006/main">
              <a:ext uri="{FF2B5EF4-FFF2-40B4-BE49-F238E27FC236}">
                <a16:creationId xmlns:a16="http://schemas.microsoft.com/office/drawing/2014/main" id="{BA2FAF14-5A86-4105-B1B0-D4F924C62B07}"/>
              </a:ext>
            </a:extLst>
          </p:cNvPr>
          <p:cNvSpPr>
            <a:spLocks xmlns:a="http://schemas.openxmlformats.org/drawingml/2006/main" noGrp="1"/>
          </p:cNvSpPr>
          <p:nvPr/>
        </p:nvSpPr>
        <p:spPr>
          <a:xfrm xmlns:a="http://schemas.openxmlformats.org/drawingml/2006/main">
            <a:off x="3762375" y="49053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Which languages, subtitles and qualities really exist?</a:t>
            </a:r>
          </a:p>
        </p:txBody>
      </p:sp>
    </p:spTree>
    <p:extLst>
      <p:ext uri="{BB962C8B-B14F-4D97-AF65-F5344CB8AC3E}">
        <p14:creationId xmlns:p14="http://schemas.microsoft.com/office/powerpoint/2010/main" val="24584494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E0A49A-FF73-4224-93E1-5AA311B1DA16}"/>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The first implementation</a:t>
            </a:r>
          </a:p>
        </p:txBody>
      </p:sp>
      <p:sp>
        <p:nvSpPr>
          <p:cNvPr id="2" name="">
            <a:extLst xmlns:a="http://schemas.openxmlformats.org/drawingml/2006/main">
              <a:ext uri="{FF2B5EF4-FFF2-40B4-BE49-F238E27FC236}">
                <a16:creationId xmlns:a16="http://schemas.microsoft.com/office/drawing/2014/main" id="{97AA33C3-D907-4C10-966A-8CF4DD9B8C58}"/>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3442CC4B-FC4E-47EA-B43A-1BD80732BAFB}"/>
              </a:ext>
            </a:extLst>
          </p:cNvPr>
          <p:cNvSpPr>
            <a:spLocks xmlns:a="http://schemas.openxmlformats.org/drawingml/2006/main" noGrp="1"/>
          </p:cNvSpPr>
          <p:nvPr/>
        </p:nvSpPr>
        <p:spPr>
          <a:xfrm xmlns:a="http://schemas.openxmlformats.org/drawingml/2006/main">
            <a:off x="685800" y="1952625"/>
            <a:ext cx="48101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89"/>
                </a:solidFill>
                <a:latin typeface="Helvetica Neue"/>
                <a:ea typeface="Helvetica Neue"/>
                <a:cs typeface="Helvetica Neue"/>
              </a:defRPr>
            </a:pPr>
            <a:r>
              <a:rPr sz="2925" b="1">
                <a:solidFill>
                  <a:srgbClr val="087F89"/>
                </a:solidFill>
                <a:latin typeface="Helvetica Neue"/>
                <a:ea typeface="Helvetica Neue"/>
                <a:cs typeface="Helvetica Neue"/>
              </a:rPr>
              <a:t>MyModule/</a:t>
            </a:r>
          </a:p>
          <a:p xmlns:a="http://schemas.openxmlformats.org/drawingml/2006/main">
            <a:pPr>
              <a:defRPr sz="2925" b="1">
                <a:solidFill>
                  <a:srgbClr val="087F89"/>
                </a:solidFill>
                <a:latin typeface="Helvetica Neue"/>
                <a:ea typeface="Helvetica Neue"/>
                <a:cs typeface="Helvetica Neue"/>
              </a:defRPr>
            </a:pPr>
            <a:r>
              <a:rPr sz="2925" b="1">
                <a:solidFill>
                  <a:srgbClr val="087F89"/>
                </a:solidFill>
                <a:latin typeface="Helvetica Neue"/>
                <a:ea typeface="Helvetica Neue"/>
                <a:cs typeface="Helvetica Neue"/>
              </a:rPr>
              <a:t>    module.json</a:t>
            </a:r>
          </a:p>
          <a:p xmlns:a="http://schemas.openxmlformats.org/drawingml/2006/main">
            <a:pPr>
              <a:defRPr sz="2925" b="1">
                <a:solidFill>
                  <a:srgbClr val="087F89"/>
                </a:solidFill>
                <a:latin typeface="Helvetica Neue"/>
                <a:ea typeface="Helvetica Neue"/>
                <a:cs typeface="Helvetica Neue"/>
              </a:defRPr>
            </a:pPr>
            <a:r>
              <a:rPr sz="2925" b="1">
                <a:solidFill>
                  <a:srgbClr val="087F89"/>
                </a:solidFill>
                <a:latin typeface="Helvetica Neue"/>
                <a:ea typeface="Helvetica Neue"/>
                <a:cs typeface="Helvetica Neue"/>
              </a:rPr>
              <a:t>    index.js</a:t>
            </a:r>
          </a:p>
        </p:txBody>
      </p:sp>
      <p:sp>
        <p:nvSpPr>
          <p:cNvPr id="4" name="">
            <a:extLst xmlns:a="http://schemas.openxmlformats.org/drawingml/2006/main">
              <a:ext uri="{FF2B5EF4-FFF2-40B4-BE49-F238E27FC236}">
                <a16:creationId xmlns:a16="http://schemas.microsoft.com/office/drawing/2014/main" id="{96E5BB33-EF6C-4F0A-9E09-447BFA887715}"/>
              </a:ext>
            </a:extLst>
          </p:cNvPr>
          <p:cNvSpPr>
            <a:spLocks xmlns:a="http://schemas.openxmlformats.org/drawingml/2006/main" noGrp="1"/>
          </p:cNvSpPr>
          <p:nvPr/>
        </p:nvSpPr>
        <p:spPr>
          <a:xfrm xmlns:a="http://schemas.openxmlformats.org/drawingml/2006/main">
            <a:off x="6381750" y="1952625"/>
            <a:ext cx="50958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191B"/>
                </a:solidFill>
                <a:latin typeface="Helvetica Neue"/>
                <a:ea typeface="Helvetica Neue"/>
                <a:cs typeface="Helvetica Neue"/>
              </a:defRPr>
            </a:pPr>
            <a:r>
              <a:rPr sz="2175" b="0">
                <a:solidFill>
                  <a:srgbClr val="15191B"/>
                </a:solidFill>
                <a:latin typeface="Helvetica Neue"/>
                <a:ea typeface="Helvetica Neue"/>
                <a:cs typeface="Helvetica Neue"/>
              </a:rPr>
              <a:t>Copy the matching starter.</a:t>
            </a:r>
          </a:p>
          <a:p xmlns:a="http://schemas.openxmlformats.org/drawingml/2006/main">
            <a:pPr>
              <a:defRPr sz="2175" b="0">
                <a:solidFill>
                  <a:srgbClr val="15191B"/>
                </a:solidFill>
                <a:latin typeface="Helvetica Neue"/>
                <a:ea typeface="Helvetica Neue"/>
                <a:cs typeface="Helvetica Neue"/>
              </a:defRPr>
            </a:pPr>
            <a:r>
              <a:rPr sz="2175" b="0">
                <a:solidFill>
                  <a:srgbClr val="15191B"/>
                </a:solidFill>
                <a:latin typeface="Helvetica Neue"/>
                <a:ea typeface="Helvetica Neue"/>
                <a:cs typeface="Helvetica Neue"/>
              </a:rPr>
              <a:t>Replace every TODO and .test URL.</a:t>
            </a:r>
          </a:p>
          <a:p xmlns:a="http://schemas.openxmlformats.org/drawingml/2006/main">
            <a:pPr>
              <a:defRPr sz="2175" b="0">
                <a:solidFill>
                  <a:srgbClr val="15191B"/>
                </a:solidFill>
                <a:latin typeface="Helvetica Neue"/>
                <a:ea typeface="Helvetica Neue"/>
                <a:cs typeface="Helvetica Neue"/>
              </a:defRPr>
            </a:pPr>
            <a:r>
              <a:rPr sz="2175" b="0">
                <a:solidFill>
                  <a:srgbClr val="15191B"/>
                </a:solidFill>
                <a:latin typeface="Helvetica Neue"/>
                <a:ea typeface="Helvetica Neue"/>
                <a:cs typeface="Helvetica Neue"/>
              </a:rPr>
              <a:t>Keep IDs stable as you iterate.</a:t>
            </a:r>
          </a:p>
          <a:p xmlns:a="http://schemas.openxmlformats.org/drawingml/2006/main">
            <a:pPr>
              <a:defRPr sz="2175" b="0">
                <a:solidFill>
                  <a:srgbClr val="15191B"/>
                </a:solidFill>
                <a:latin typeface="Helvetica Neue"/>
                <a:ea typeface="Helvetica Neue"/>
                <a:cs typeface="Helvetica Neue"/>
              </a:defRPr>
            </a:pPr>
            <a:r>
              <a:rPr sz="2175" b="0">
                <a:solidFill>
                  <a:srgbClr val="15191B"/>
                </a:solidFill>
                <a:latin typeface="Helvetica Neue"/>
                <a:ea typeface="Helvetica Neue"/>
                <a:cs typeface="Helvetica Neue"/>
              </a:rPr>
              <a:t>Return the exact contract shapes.</a:t>
            </a:r>
          </a:p>
          <a:p xmlns:a="http://schemas.openxmlformats.org/drawingml/2006/main">
            <a:pPr>
              <a:defRPr sz="2175" b="0">
                <a:solidFill>
                  <a:srgbClr val="15191B"/>
                </a:solidFill>
                <a:latin typeface="Helvetica Neue"/>
                <a:ea typeface="Helvetica Neue"/>
                <a:cs typeface="Helvetica Neue"/>
              </a:defRPr>
            </a:pPr>
            <a:r>
              <a:rPr sz="2175" b="0">
                <a:solidFill>
                  <a:srgbClr val="15191B"/>
                </a:solidFill>
                <a:latin typeface="Helvetica Neue"/>
                <a:ea typeface="Helvetica Neue"/>
                <a:cs typeface="Helvetica Neue"/>
              </a:rPr>
              <a:t>Start with a beta version.</a:t>
            </a:r>
          </a:p>
        </p:txBody>
      </p:sp>
      <p:sp>
        <p:nvSpPr>
          <p:cNvPr id="5" name="">
            <a:extLst xmlns:a="http://schemas.openxmlformats.org/drawingml/2006/main">
              <a:ext uri="{FF2B5EF4-FFF2-40B4-BE49-F238E27FC236}">
                <a16:creationId xmlns:a16="http://schemas.microsoft.com/office/drawing/2014/main" id="{F8D9382C-0FFC-4550-A976-10C21128B808}"/>
              </a:ext>
            </a:extLst>
          </p:cNvPr>
          <p:cNvSpPr>
            <a:spLocks xmlns:a="http://schemas.openxmlformats.org/drawingml/2006/main" noGrp="1"/>
          </p:cNvSpPr>
          <p:nvPr/>
        </p:nvSpPr>
        <p:spPr>
          <a:xfrm xmlns:a="http://schemas.openxmlformats.org/drawingml/2006/main">
            <a:off x="685800" y="54768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3473D"/>
                </a:solidFill>
                <a:latin typeface="Helvetica Neue"/>
                <a:ea typeface="Helvetica Neue"/>
                <a:cs typeface="Helvetica Neue"/>
              </a:defRPr>
            </a:pPr>
            <a:r>
              <a:rPr sz="2100" b="0">
                <a:solidFill>
                  <a:srgbClr val="C3473D"/>
                </a:solidFill>
                <a:latin typeface="Helvetica Neue"/>
                <a:ea typeface="Helvetica Neue"/>
                <a:cs typeface="Helvetica Neue"/>
              </a:rPr>
              <a:t>The supplied templates deliberately do not return pretend working media.</a:t>
            </a:r>
          </a:p>
        </p:txBody>
      </p:sp>
    </p:spTree>
    <p:extLst>
      <p:ext uri="{BB962C8B-B14F-4D97-AF65-F5344CB8AC3E}">
        <p14:creationId xmlns:p14="http://schemas.microsoft.com/office/powerpoint/2010/main" val="7526223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9EE15BC-A849-4E13-9390-094BF93BA70D}"/>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Home, languages and quality</a:t>
            </a:r>
          </a:p>
        </p:txBody>
      </p:sp>
      <p:sp>
        <p:nvSpPr>
          <p:cNvPr id="2" name="">
            <a:extLst xmlns:a="http://schemas.openxmlformats.org/drawingml/2006/main">
              <a:ext uri="{FF2B5EF4-FFF2-40B4-BE49-F238E27FC236}">
                <a16:creationId xmlns:a16="http://schemas.microsoft.com/office/drawing/2014/main" id="{CE9FD07C-F842-445B-852E-730542A21938}"/>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06483395-3A10-4B72-A49C-D1744E659351}"/>
              </a:ext>
            </a:extLst>
          </p:cNvPr>
          <p:cNvSpPr>
            <a:spLocks xmlns:a="http://schemas.openxmlformats.org/drawingml/2006/main" noGrp="1"/>
          </p:cNvSpPr>
          <p:nvPr/>
        </p:nvSpPr>
        <p:spPr>
          <a:xfrm xmlns:a="http://schemas.openxmlformats.org/drawingml/2006/main">
            <a:off x="685800" y="17621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Home</a:t>
            </a:r>
          </a:p>
        </p:txBody>
      </p:sp>
      <p:sp>
        <p:nvSpPr>
          <p:cNvPr id="4" name="">
            <a:extLst xmlns:a="http://schemas.openxmlformats.org/drawingml/2006/main">
              <a:ext uri="{FF2B5EF4-FFF2-40B4-BE49-F238E27FC236}">
                <a16:creationId xmlns:a16="http://schemas.microsoft.com/office/drawing/2014/main" id="{23EB0628-F94A-4167-A808-02E91280C968}"/>
              </a:ext>
            </a:extLst>
          </p:cNvPr>
          <p:cNvSpPr>
            <a:spLocks xmlns:a="http://schemas.openxmlformats.org/drawingml/2006/main" noGrp="1"/>
          </p:cNvSpPr>
          <p:nvPr/>
        </p:nvSpPr>
        <p:spPr>
          <a:xfrm xmlns:a="http://schemas.openxmlformats.org/drawingml/2006/main">
            <a:off x="3762375" y="17621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Enable discovery_v1 and implement home/feed handlers for paging.</a:t>
            </a:r>
          </a:p>
        </p:txBody>
      </p:sp>
      <p:sp>
        <p:nvSpPr>
          <p:cNvPr id="5" name="">
            <a:extLst xmlns:a="http://schemas.openxmlformats.org/drawingml/2006/main">
              <a:ext uri="{FF2B5EF4-FFF2-40B4-BE49-F238E27FC236}">
                <a16:creationId xmlns:a16="http://schemas.microsoft.com/office/drawing/2014/main" id="{5E38E5EA-A7E5-4B6B-901F-49B9443FCCF8}"/>
              </a:ext>
            </a:extLst>
          </p:cNvPr>
          <p:cNvSpPr>
            <a:spLocks xmlns:a="http://schemas.openxmlformats.org/drawingml/2006/main" noGrp="1"/>
          </p:cNvSpPr>
          <p:nvPr/>
        </p:nvSpPr>
        <p:spPr>
          <a:xfrm xmlns:a="http://schemas.openxmlformats.org/drawingml/2006/main">
            <a:off x="685800" y="2809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Audio</a:t>
            </a:r>
          </a:p>
        </p:txBody>
      </p:sp>
      <p:sp>
        <p:nvSpPr>
          <p:cNvPr id="6" name="">
            <a:extLst xmlns:a="http://schemas.openxmlformats.org/drawingml/2006/main">
              <a:ext uri="{FF2B5EF4-FFF2-40B4-BE49-F238E27FC236}">
                <a16:creationId xmlns:a16="http://schemas.microsoft.com/office/drawing/2014/main" id="{591F578E-6A23-43C0-8EF4-129A34DB8E84}"/>
              </a:ext>
            </a:extLst>
          </p:cNvPr>
          <p:cNvSpPr>
            <a:spLocks xmlns:a="http://schemas.openxmlformats.org/drawingml/2006/main" noGrp="1"/>
          </p:cNvSpPr>
          <p:nvPr/>
        </p:nvSpPr>
        <p:spPr>
          <a:xfrm xmlns:a="http://schemas.openxmlformats.org/drawingml/2006/main">
            <a:off x="3762375" y="28098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Expose available languages. Never silently replace a missing dub.</a:t>
            </a:r>
          </a:p>
        </p:txBody>
      </p:sp>
      <p:sp>
        <p:nvSpPr>
          <p:cNvPr id="7" name="">
            <a:extLst xmlns:a="http://schemas.openxmlformats.org/drawingml/2006/main">
              <a:ext uri="{FF2B5EF4-FFF2-40B4-BE49-F238E27FC236}">
                <a16:creationId xmlns:a16="http://schemas.microsoft.com/office/drawing/2014/main" id="{D6FACF3D-B2A3-4EAF-B9F0-AEEB4AA46E26}"/>
              </a:ext>
            </a:extLst>
          </p:cNvPr>
          <p:cNvSpPr>
            <a:spLocks xmlns:a="http://schemas.openxmlformats.org/drawingml/2006/main" noGrp="1"/>
          </p:cNvSpPr>
          <p:nvPr/>
        </p:nvSpPr>
        <p:spPr>
          <a:xfrm xmlns:a="http://schemas.openxmlformats.org/drawingml/2006/main">
            <a:off x="685800" y="3857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Subtitles</a:t>
            </a:r>
          </a:p>
        </p:txBody>
      </p:sp>
      <p:sp>
        <p:nvSpPr>
          <p:cNvPr id="8" name="">
            <a:extLst xmlns:a="http://schemas.openxmlformats.org/drawingml/2006/main">
              <a:ext uri="{FF2B5EF4-FFF2-40B4-BE49-F238E27FC236}">
                <a16:creationId xmlns:a16="http://schemas.microsoft.com/office/drawing/2014/main" id="{284B0A5D-C8D0-41BD-8BC4-3A9015556812}"/>
              </a:ext>
            </a:extLst>
          </p:cNvPr>
          <p:cNvSpPr>
            <a:spLocks xmlns:a="http://schemas.openxmlformats.org/drawingml/2006/main" noGrp="1"/>
          </p:cNvSpPr>
          <p:nvPr/>
        </p:nvSpPr>
        <p:spPr>
          <a:xfrm xmlns:a="http://schemas.openxmlformats.org/drawingml/2006/main">
            <a:off x="3762375" y="38576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Use real tracks, correct labels and episode-matched timings.</a:t>
            </a:r>
          </a:p>
        </p:txBody>
      </p:sp>
      <p:sp>
        <p:nvSpPr>
          <p:cNvPr id="9" name="">
            <a:extLst xmlns:a="http://schemas.openxmlformats.org/drawingml/2006/main">
              <a:ext uri="{FF2B5EF4-FFF2-40B4-BE49-F238E27FC236}">
                <a16:creationId xmlns:a16="http://schemas.microsoft.com/office/drawing/2014/main" id="{9B4711C2-0747-4566-9F92-2EDEDB8E353E}"/>
              </a:ext>
            </a:extLst>
          </p:cNvPr>
          <p:cNvSpPr>
            <a:spLocks xmlns:a="http://schemas.openxmlformats.org/drawingml/2006/main" noGrp="1"/>
          </p:cNvSpPr>
          <p:nvPr/>
        </p:nvSpPr>
        <p:spPr>
          <a:xfrm xmlns:a="http://schemas.openxmlformats.org/drawingml/2006/main">
            <a:off x="685800" y="49053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Servers / quality</a:t>
            </a:r>
          </a:p>
        </p:txBody>
      </p:sp>
      <p:sp>
        <p:nvSpPr>
          <p:cNvPr id="10" name="">
            <a:extLst xmlns:a="http://schemas.openxmlformats.org/drawingml/2006/main">
              <a:ext uri="{FF2B5EF4-FFF2-40B4-BE49-F238E27FC236}">
                <a16:creationId xmlns:a16="http://schemas.microsoft.com/office/drawing/2014/main" id="{D2563B21-54A2-4E95-BBEB-A8484525838A}"/>
              </a:ext>
            </a:extLst>
          </p:cNvPr>
          <p:cNvSpPr>
            <a:spLocks xmlns:a="http://schemas.openxmlformats.org/drawingml/2006/main" noGrp="1"/>
          </p:cNvSpPr>
          <p:nvPr/>
        </p:nvSpPr>
        <p:spPr>
          <a:xfrm xmlns:a="http://schemas.openxmlformats.org/drawingml/2006/main">
            <a:off x="3762375" y="49053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Keep real alternatives and their headers. A server is not a resolution.</a:t>
            </a:r>
          </a:p>
        </p:txBody>
      </p:sp>
    </p:spTree>
    <p:extLst>
      <p:ext uri="{BB962C8B-B14F-4D97-AF65-F5344CB8AC3E}">
        <p14:creationId xmlns:p14="http://schemas.microsoft.com/office/powerpoint/2010/main" val="5061505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2C068FF-5A1A-4A17-B2E1-ADA74582B47D}"/>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What each test actually proves</a:t>
            </a:r>
          </a:p>
        </p:txBody>
      </p:sp>
      <p:sp>
        <p:nvSpPr>
          <p:cNvPr id="2" name="">
            <a:extLst xmlns:a="http://schemas.openxmlformats.org/drawingml/2006/main">
              <a:ext uri="{FF2B5EF4-FFF2-40B4-BE49-F238E27FC236}">
                <a16:creationId xmlns:a16="http://schemas.microsoft.com/office/drawing/2014/main" id="{790E3E0E-40C4-42AD-A3F4-5F8AE2A46783}"/>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B96205AC-5FBC-4E72-95EF-6EB439F7A687}"/>
              </a:ext>
            </a:extLst>
          </p:cNvPr>
          <p:cNvSpPr>
            <a:spLocks xmlns:a="http://schemas.openxmlformats.org/drawingml/2006/main" noGrp="1"/>
          </p:cNvSpPr>
          <p:nvPr/>
        </p:nvSpPr>
        <p:spPr>
          <a:xfrm xmlns:a="http://schemas.openxmlformats.org/drawingml/2006/main">
            <a:off x="685800" y="17621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Local checks</a:t>
            </a:r>
          </a:p>
        </p:txBody>
      </p:sp>
      <p:sp>
        <p:nvSpPr>
          <p:cNvPr id="4" name="">
            <a:extLst xmlns:a="http://schemas.openxmlformats.org/drawingml/2006/main">
              <a:ext uri="{FF2B5EF4-FFF2-40B4-BE49-F238E27FC236}">
                <a16:creationId xmlns:a16="http://schemas.microsoft.com/office/drawing/2014/main" id="{A5D9C8DB-6C64-4908-945C-7900B56A3233}"/>
              </a:ext>
            </a:extLst>
          </p:cNvPr>
          <p:cNvSpPr>
            <a:spLocks xmlns:a="http://schemas.openxmlformats.org/drawingml/2006/main" noGrp="1"/>
          </p:cNvSpPr>
          <p:nvPr/>
        </p:nvSpPr>
        <p:spPr>
          <a:xfrm xmlns:a="http://schemas.openxmlformats.org/drawingml/2006/main">
            <a:off x="3762375" y="17621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Handlers returned usable shapes and sampled bytes look plausible.</a:t>
            </a:r>
          </a:p>
        </p:txBody>
      </p:sp>
      <p:sp>
        <p:nvSpPr>
          <p:cNvPr id="5" name="">
            <a:extLst xmlns:a="http://schemas.openxmlformats.org/drawingml/2006/main">
              <a:ext uri="{FF2B5EF4-FFF2-40B4-BE49-F238E27FC236}">
                <a16:creationId xmlns:a16="http://schemas.microsoft.com/office/drawing/2014/main" id="{3745A6F6-7866-4E62-8B58-05926866551C}"/>
              </a:ext>
            </a:extLst>
          </p:cNvPr>
          <p:cNvSpPr>
            <a:spLocks xmlns:a="http://schemas.openxmlformats.org/drawingml/2006/main" noGrp="1"/>
          </p:cNvSpPr>
          <p:nvPr/>
        </p:nvSpPr>
        <p:spPr>
          <a:xfrm xmlns:a="http://schemas.openxmlformats.org/drawingml/2006/main">
            <a:off x="685800" y="2809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S2 / app runtime</a:t>
            </a:r>
          </a:p>
        </p:txBody>
      </p:sp>
      <p:sp>
        <p:nvSpPr>
          <p:cNvPr id="6" name="">
            <a:extLst xmlns:a="http://schemas.openxmlformats.org/drawingml/2006/main">
              <a:ext uri="{FF2B5EF4-FFF2-40B4-BE49-F238E27FC236}">
                <a16:creationId xmlns:a16="http://schemas.microsoft.com/office/drawing/2014/main" id="{50D4212B-0261-47B8-9AE7-50692996C2DC}"/>
              </a:ext>
            </a:extLst>
          </p:cNvPr>
          <p:cNvSpPr>
            <a:spLocks xmlns:a="http://schemas.openxmlformats.org/drawingml/2006/main" noGrp="1"/>
          </p:cNvSpPr>
          <p:nvPr/>
        </p:nvSpPr>
        <p:spPr>
          <a:xfrm xmlns:a="http://schemas.openxmlformats.org/drawingml/2006/main">
            <a:off x="3762375" y="28098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The real engine can run the module and inspect its media.</a:t>
            </a:r>
          </a:p>
        </p:txBody>
      </p:sp>
      <p:sp>
        <p:nvSpPr>
          <p:cNvPr id="7" name="">
            <a:extLst xmlns:a="http://schemas.openxmlformats.org/drawingml/2006/main">
              <a:ext uri="{FF2B5EF4-FFF2-40B4-BE49-F238E27FC236}">
                <a16:creationId xmlns:a16="http://schemas.microsoft.com/office/drawing/2014/main" id="{0485FC52-9DFC-4794-BFFC-0FDCB5A2F21B}"/>
              </a:ext>
            </a:extLst>
          </p:cNvPr>
          <p:cNvSpPr>
            <a:spLocks xmlns:a="http://schemas.openxmlformats.org/drawingml/2006/main" noGrp="1"/>
          </p:cNvSpPr>
          <p:nvPr/>
        </p:nvSpPr>
        <p:spPr>
          <a:xfrm xmlns:a="http://schemas.openxmlformats.org/drawingml/2006/main">
            <a:off x="685800" y="3857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Device playback</a:t>
            </a:r>
          </a:p>
        </p:txBody>
      </p:sp>
      <p:sp>
        <p:nvSpPr>
          <p:cNvPr id="8" name="">
            <a:extLst xmlns:a="http://schemas.openxmlformats.org/drawingml/2006/main">
              <a:ext uri="{FF2B5EF4-FFF2-40B4-BE49-F238E27FC236}">
                <a16:creationId xmlns:a16="http://schemas.microsoft.com/office/drawing/2014/main" id="{C5D3ADEC-2D32-486F-87A7-367962DA652F}"/>
              </a:ext>
            </a:extLst>
          </p:cNvPr>
          <p:cNvSpPr>
            <a:spLocks xmlns:a="http://schemas.openxmlformats.org/drawingml/2006/main" noGrp="1"/>
          </p:cNvSpPr>
          <p:nvPr/>
        </p:nvSpPr>
        <p:spPr>
          <a:xfrm xmlns:a="http://schemas.openxmlformats.org/drawingml/2006/main">
            <a:off x="3762375" y="38576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The picture advances, audio is right and controls behave correctly.</a:t>
            </a:r>
          </a:p>
        </p:txBody>
      </p:sp>
      <p:sp>
        <p:nvSpPr>
          <p:cNvPr id="9" name="">
            <a:extLst xmlns:a="http://schemas.openxmlformats.org/drawingml/2006/main">
              <a:ext uri="{FF2B5EF4-FFF2-40B4-BE49-F238E27FC236}">
                <a16:creationId xmlns:a16="http://schemas.microsoft.com/office/drawing/2014/main" id="{3EA4EB09-91BB-44FC-9F60-4A51B4CA24C0}"/>
              </a:ext>
            </a:extLst>
          </p:cNvPr>
          <p:cNvSpPr>
            <a:spLocks xmlns:a="http://schemas.openxmlformats.org/drawingml/2006/main" noGrp="1"/>
          </p:cNvSpPr>
          <p:nvPr/>
        </p:nvSpPr>
        <p:spPr>
          <a:xfrm xmlns:a="http://schemas.openxmlformats.org/drawingml/2006/main">
            <a:off x="685800" y="49053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Offline test</a:t>
            </a:r>
          </a:p>
        </p:txBody>
      </p:sp>
      <p:sp>
        <p:nvSpPr>
          <p:cNvPr id="10" name="">
            <a:extLst xmlns:a="http://schemas.openxmlformats.org/drawingml/2006/main">
              <a:ext uri="{FF2B5EF4-FFF2-40B4-BE49-F238E27FC236}">
                <a16:creationId xmlns:a16="http://schemas.microsoft.com/office/drawing/2014/main" id="{0CFF3971-E09A-469D-8CE8-B8240011567E}"/>
              </a:ext>
            </a:extLst>
          </p:cNvPr>
          <p:cNvSpPr>
            <a:spLocks xmlns:a="http://schemas.openxmlformats.org/drawingml/2006/main" noGrp="1"/>
          </p:cNvSpPr>
          <p:nvPr/>
        </p:nvSpPr>
        <p:spPr>
          <a:xfrm xmlns:a="http://schemas.openxmlformats.org/drawingml/2006/main">
            <a:off x="3762375" y="49053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A completed download still plays without network access.</a:t>
            </a:r>
          </a:p>
        </p:txBody>
      </p:sp>
    </p:spTree>
    <p:extLst>
      <p:ext uri="{BB962C8B-B14F-4D97-AF65-F5344CB8AC3E}">
        <p14:creationId xmlns:p14="http://schemas.microsoft.com/office/powerpoint/2010/main" val="112701412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D7E0BC-AB55-498D-A29C-CA47BBA5E150}"/>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A small test before a broad test</a:t>
            </a:r>
          </a:p>
        </p:txBody>
      </p:sp>
      <p:sp>
        <p:nvSpPr>
          <p:cNvPr id="2" name="">
            <a:extLst xmlns:a="http://schemas.openxmlformats.org/drawingml/2006/main">
              <a:ext uri="{FF2B5EF4-FFF2-40B4-BE49-F238E27FC236}">
                <a16:creationId xmlns:a16="http://schemas.microsoft.com/office/drawing/2014/main" id="{27B0CD17-7399-42EA-9D9B-B70B517EEB1D}"/>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17</a:t>
            </a:r>
          </a:p>
        </p:txBody>
      </p:sp>
      <p:sp>
        <p:nvSpPr>
          <p:cNvPr id="3" name="">
            <a:extLst xmlns:a="http://schemas.openxmlformats.org/drawingml/2006/main">
              <a:ext uri="{FF2B5EF4-FFF2-40B4-BE49-F238E27FC236}">
                <a16:creationId xmlns:a16="http://schemas.microsoft.com/office/drawing/2014/main" id="{3F0B321C-31C6-43CD-A34F-15A23F49A2A7}"/>
              </a:ext>
            </a:extLst>
          </p:cNvPr>
          <p:cNvSpPr>
            <a:spLocks xmlns:a="http://schemas.openxmlformats.org/drawingml/2006/main" noGrp="1"/>
          </p:cNvSpPr>
          <p:nvPr/>
        </p:nvSpPr>
        <p:spPr>
          <a:xfrm xmlns:a="http://schemas.openxmlformats.org/drawingml/2006/main">
            <a:off x="685800" y="19240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F89"/>
                </a:solidFill>
                <a:latin typeface="Helvetica Neue"/>
                <a:ea typeface="Helvetica Neue"/>
                <a:cs typeface="Helvetica Neue"/>
              </a:defRPr>
            </a:pPr>
            <a:r>
              <a:rPr sz="2700" b="1">
                <a:solidFill>
                  <a:srgbClr val="087F89"/>
                </a:solidFill>
                <a:latin typeface="Helvetica Neue"/>
                <a:ea typeface="Helvetica Neue"/>
                <a:cs typeface="Helvetica Neue"/>
              </a:rPr>
              <a:t>First: one exact title end to end</a:t>
            </a:r>
          </a:p>
        </p:txBody>
      </p:sp>
      <p:sp>
        <p:nvSpPr>
          <p:cNvPr id="4" name="">
            <a:extLst xmlns:a="http://schemas.openxmlformats.org/drawingml/2006/main">
              <a:ext uri="{FF2B5EF4-FFF2-40B4-BE49-F238E27FC236}">
                <a16:creationId xmlns:a16="http://schemas.microsoft.com/office/drawing/2014/main" id="{5963A4E7-69D6-4056-B372-F1D89AC785EB}"/>
              </a:ext>
            </a:extLst>
          </p:cNvPr>
          <p:cNvSpPr>
            <a:spLocks xmlns:a="http://schemas.openxmlformats.org/drawingml/2006/main" noGrp="1"/>
          </p:cNvSpPr>
          <p:nvPr/>
        </p:nvSpPr>
        <p:spPr>
          <a:xfrm xmlns:a="http://schemas.openxmlformats.org/drawingml/2006/main">
            <a:off x="685800" y="28098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191B"/>
                </a:solidFill>
                <a:latin typeface="Helvetica Neue"/>
                <a:ea typeface="Helvetica Neue"/>
                <a:cs typeface="Helvetica Neue"/>
              </a:defRPr>
            </a:pPr>
            <a:r>
              <a:rPr sz="2325" b="0">
                <a:solidFill>
                  <a:srgbClr val="15191B"/>
                </a:solidFill>
                <a:latin typeface="Helvetica Neue"/>
                <a:ea typeface="Helvetica Neue"/>
                <a:cs typeface="Helvetica Neue"/>
              </a:rPr>
              <a:t>Confirm the title, episode and language. Watch with sound.</a:t>
            </a:r>
          </a:p>
          <a:p xmlns:a="http://schemas.openxmlformats.org/drawingml/2006/main">
            <a:pPr>
              <a:defRPr sz="2325" b="0">
                <a:solidFill>
                  <a:srgbClr val="15191B"/>
                </a:solidFill>
                <a:latin typeface="Helvetica Neue"/>
                <a:ea typeface="Helvetica Neue"/>
                <a:cs typeface="Helvetica Neue"/>
              </a:defRPr>
            </a:pPr>
            <a:r>
              <a:rPr sz="2325" b="0">
                <a:solidFill>
                  <a:srgbClr val="15191B"/>
                </a:solidFill>
                <a:latin typeface="Helvetica Neue"/>
                <a:ea typeface="Helvetica Neue"/>
                <a:cs typeface="Helvetica Neue"/>
              </a:rPr>
              <a:t>Seek, pause, resume and check the subtitles.</a:t>
            </a:r>
          </a:p>
        </p:txBody>
      </p:sp>
      <p:sp>
        <p:nvSpPr>
          <p:cNvPr id="5" name="">
            <a:extLst xmlns:a="http://schemas.openxmlformats.org/drawingml/2006/main">
              <a:ext uri="{FF2B5EF4-FFF2-40B4-BE49-F238E27FC236}">
                <a16:creationId xmlns:a16="http://schemas.microsoft.com/office/drawing/2014/main" id="{53478B65-1E74-4389-BCEB-D19C269BEA5B}"/>
              </a:ext>
            </a:extLst>
          </p:cNvPr>
          <p:cNvSpPr>
            <a:spLocks xmlns:a="http://schemas.openxmlformats.org/drawingml/2006/main" noGrp="1"/>
          </p:cNvSpPr>
          <p:nvPr/>
        </p:nvSpPr>
        <p:spPr>
          <a:xfrm xmlns:a="http://schemas.openxmlformats.org/drawingml/2006/main">
            <a:off x="685800" y="42672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F89"/>
                </a:solidFill>
                <a:latin typeface="Helvetica Neue"/>
                <a:ea typeface="Helvetica Neue"/>
                <a:cs typeface="Helvetica Neue"/>
              </a:defRPr>
            </a:pPr>
            <a:r>
              <a:rPr sz="2700" b="1">
                <a:solidFill>
                  <a:srgbClr val="087F89"/>
                </a:solidFill>
                <a:latin typeface="Helvetica Neue"/>
                <a:ea typeface="Helvetica Neue"/>
                <a:cs typeface="Helvetica Neue"/>
              </a:rPr>
              <a:t>Then: varied titles and edge cases</a:t>
            </a:r>
          </a:p>
        </p:txBody>
      </p:sp>
      <p:sp>
        <p:nvSpPr>
          <p:cNvPr id="6" name="">
            <a:extLst xmlns:a="http://schemas.openxmlformats.org/drawingml/2006/main">
              <a:ext uri="{FF2B5EF4-FFF2-40B4-BE49-F238E27FC236}">
                <a16:creationId xmlns:a16="http://schemas.microsoft.com/office/drawing/2014/main" id="{7EE1F869-0AAC-4A39-B732-3F49723388D8}"/>
              </a:ext>
            </a:extLst>
          </p:cNvPr>
          <p:cNvSpPr>
            <a:spLocks xmlns:a="http://schemas.openxmlformats.org/drawingml/2006/main" noGrp="1"/>
          </p:cNvSpPr>
          <p:nvPr/>
        </p:nvSpPr>
        <p:spPr>
          <a:xfrm xmlns:a="http://schemas.openxmlformats.org/drawingml/2006/main">
            <a:off x="685800" y="51149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191B"/>
                </a:solidFill>
                <a:latin typeface="Helvetica Neue"/>
                <a:ea typeface="Helvetica Neue"/>
                <a:cs typeface="Helvetica Neue"/>
              </a:defRPr>
            </a:pPr>
            <a:r>
              <a:rPr sz="2175" b="0">
                <a:solidFill>
                  <a:srgbClr val="15191B"/>
                </a:solidFill>
                <a:latin typeface="Helvetica Neue"/>
                <a:ea typeface="Helvetica Neue"/>
                <a:cs typeface="Helvetica Neue"/>
              </a:rPr>
              <a:t>Older and latest episodes, long lists, absent dub and empty search.</a:t>
            </a:r>
          </a:p>
          <a:p xmlns:a="http://schemas.openxmlformats.org/drawingml/2006/main">
            <a:pPr>
              <a:defRPr sz="2175" b="0">
                <a:solidFill>
                  <a:srgbClr val="15191B"/>
                </a:solidFill>
                <a:latin typeface="Helvetica Neue"/>
                <a:ea typeface="Helvetica Neue"/>
                <a:cs typeface="Helvetica Neue"/>
              </a:defRPr>
            </a:pPr>
            <a:r>
              <a:rPr sz="2175" b="0">
                <a:solidFill>
                  <a:srgbClr val="15191B"/>
                </a:solidFill>
                <a:latin typeface="Helvetica Neue"/>
                <a:ea typeface="Helvetica Neue"/>
                <a:cs typeface="Helvetica Neue"/>
              </a:rPr>
              <a:t>Record failures and untested cases separately.</a:t>
            </a:r>
          </a:p>
        </p:txBody>
      </p:sp>
    </p:spTree>
    <p:extLst>
      <p:ext uri="{BB962C8B-B14F-4D97-AF65-F5344CB8AC3E}">
        <p14:creationId xmlns:p14="http://schemas.microsoft.com/office/powerpoint/2010/main" val="5859170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41FE8D-5F3E-4490-8B79-D235ABBD6D04}"/>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Local commands</a:t>
            </a:r>
          </a:p>
        </p:txBody>
      </p:sp>
      <p:sp>
        <p:nvSpPr>
          <p:cNvPr id="2" name="">
            <a:extLst xmlns:a="http://schemas.openxmlformats.org/drawingml/2006/main">
              <a:ext uri="{FF2B5EF4-FFF2-40B4-BE49-F238E27FC236}">
                <a16:creationId xmlns:a16="http://schemas.microsoft.com/office/drawing/2014/main" id="{9C64D835-56B5-443A-BFDA-6D958E730FF8}"/>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18</a:t>
            </a:r>
          </a:p>
        </p:txBody>
      </p:sp>
      <p:sp>
        <p:nvSpPr>
          <p:cNvPr id="3" name="">
            <a:extLst xmlns:a="http://schemas.openxmlformats.org/drawingml/2006/main">
              <a:ext uri="{FF2B5EF4-FFF2-40B4-BE49-F238E27FC236}">
                <a16:creationId xmlns:a16="http://schemas.microsoft.com/office/drawing/2014/main" id="{884581F1-88F5-43D8-BC00-EE2741F09171}"/>
              </a:ext>
            </a:extLst>
          </p:cNvPr>
          <p:cNvSpPr>
            <a:spLocks xmlns:a="http://schemas.openxmlformats.org/drawingml/2006/main" noGrp="1"/>
          </p:cNvSpPr>
          <p:nvPr/>
        </p:nvSpPr>
        <p:spPr>
          <a:xfrm xmlns:a="http://schemas.openxmlformats.org/drawingml/2006/main">
            <a:off x="685800" y="18097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66166"/>
                </a:solidFill>
                <a:latin typeface="Helvetica Neue"/>
                <a:ea typeface="Helvetica Neue"/>
                <a:cs typeface="Helvetica Neue"/>
              </a:defRPr>
            </a:pPr>
            <a:r>
              <a:rPr sz="2100" b="0">
                <a:solidFill>
                  <a:srgbClr val="566166"/>
                </a:solidFill>
                <a:latin typeface="Helvetica Neue"/>
                <a:ea typeface="Helvetica Neue"/>
                <a:cs typeface="Helvetica Neue"/>
              </a:rPr>
              <a:t>Kit self-test</a:t>
            </a:r>
          </a:p>
        </p:txBody>
      </p:sp>
      <p:sp>
        <p:nvSpPr>
          <p:cNvPr id="4" name="">
            <a:extLst xmlns:a="http://schemas.openxmlformats.org/drawingml/2006/main">
              <a:ext uri="{FF2B5EF4-FFF2-40B4-BE49-F238E27FC236}">
                <a16:creationId xmlns:a16="http://schemas.microsoft.com/office/drawing/2014/main" id="{9F4E05E4-A351-427D-A664-B5B4F797331C}"/>
              </a:ext>
            </a:extLst>
          </p:cNvPr>
          <p:cNvSpPr>
            <a:spLocks xmlns:a="http://schemas.openxmlformats.org/drawingml/2006/main" noGrp="1"/>
          </p:cNvSpPr>
          <p:nvPr/>
        </p:nvSpPr>
        <p:spPr>
          <a:xfrm xmlns:a="http://schemas.openxmlformats.org/drawingml/2006/main">
            <a:off x="685800" y="23336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F89"/>
                </a:solidFill>
                <a:latin typeface="Helvetica Neue"/>
                <a:ea typeface="Helvetica Neue"/>
                <a:cs typeface="Helvetica Neue"/>
              </a:defRPr>
            </a:pPr>
            <a:r>
              <a:rPr sz="2475" b="1">
                <a:solidFill>
                  <a:srgbClr val="087F89"/>
                </a:solidFill>
                <a:latin typeface="Helvetica Neue"/>
                <a:ea typeface="Helvetica Neue"/>
                <a:cs typeface="Helvetica Neue"/>
              </a:rPr>
              <a:t>node --test tests/kit.test.cjs</a:t>
            </a:r>
          </a:p>
        </p:txBody>
      </p:sp>
      <p:sp>
        <p:nvSpPr>
          <p:cNvPr id="5" name="">
            <a:extLst xmlns:a="http://schemas.openxmlformats.org/drawingml/2006/main">
              <a:ext uri="{FF2B5EF4-FFF2-40B4-BE49-F238E27FC236}">
                <a16:creationId xmlns:a16="http://schemas.microsoft.com/office/drawing/2014/main" id="{93F5F63C-A3BA-4D57-958C-27C9596E9036}"/>
              </a:ext>
            </a:extLst>
          </p:cNvPr>
          <p:cNvSpPr>
            <a:spLocks xmlns:a="http://schemas.openxmlformats.org/drawingml/2006/main" noGrp="1"/>
          </p:cNvSpPr>
          <p:nvPr/>
        </p:nvSpPr>
        <p:spPr>
          <a:xfrm xmlns:a="http://schemas.openxmlformats.org/drawingml/2006/main">
            <a:off x="685800" y="33051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66166"/>
                </a:solidFill>
                <a:latin typeface="Helvetica Neue"/>
                <a:ea typeface="Helvetica Neue"/>
                <a:cs typeface="Helvetica Neue"/>
              </a:defRPr>
            </a:pPr>
            <a:r>
              <a:rPr sz="2100" b="0">
                <a:solidFill>
                  <a:srgbClr val="566166"/>
                </a:solidFill>
                <a:latin typeface="Helvetica Neue"/>
                <a:ea typeface="Helvetica Neue"/>
                <a:cs typeface="Helvetica Neue"/>
              </a:rPr>
              <a:t>One source case</a:t>
            </a:r>
          </a:p>
        </p:txBody>
      </p:sp>
      <p:sp>
        <p:nvSpPr>
          <p:cNvPr id="6" name="">
            <a:extLst xmlns:a="http://schemas.openxmlformats.org/drawingml/2006/main">
              <a:ext uri="{FF2B5EF4-FFF2-40B4-BE49-F238E27FC236}">
                <a16:creationId xmlns:a16="http://schemas.microsoft.com/office/drawing/2014/main" id="{AE9BFC89-4301-45AE-A908-6365D40513F6}"/>
              </a:ext>
            </a:extLst>
          </p:cNvPr>
          <p:cNvSpPr>
            <a:spLocks xmlns:a="http://schemas.openxmlformats.org/drawingml/2006/main" noGrp="1"/>
          </p:cNvSpPr>
          <p:nvPr/>
        </p:nvSpPr>
        <p:spPr>
          <a:xfrm xmlns:a="http://schemas.openxmlformats.org/drawingml/2006/main">
            <a:off x="685800" y="38290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9"/>
                </a:solidFill>
                <a:latin typeface="Helvetica Neue"/>
                <a:ea typeface="Helvetica Neue"/>
                <a:cs typeface="Helvetica Neue"/>
              </a:defRPr>
            </a:pPr>
            <a:r>
              <a:rPr sz="2250" b="1">
                <a:solidFill>
                  <a:srgbClr val="087F89"/>
                </a:solidFill>
                <a:latin typeface="Helvetica Neue"/>
                <a:ea typeface="Helvetica Neue"/>
                <a:cs typeface="Helvetica Neue"/>
              </a:rPr>
              <a:t>node tools/run_checks.cjs MyModule</a:t>
            </a:r>
          </a:p>
          <a:p xmlns:a="http://schemas.openxmlformats.org/drawingml/2006/main">
            <a:pPr>
              <a:defRPr sz="2250" b="1">
                <a:solidFill>
                  <a:srgbClr val="087F89"/>
                </a:solidFill>
                <a:latin typeface="Helvetica Neue"/>
                <a:ea typeface="Helvetica Neue"/>
                <a:cs typeface="Helvetica Neue"/>
              </a:defRPr>
            </a:pPr>
            <a:r>
              <a:rPr sz="2250" b="1">
                <a:solidFill>
                  <a:srgbClr val="087F89"/>
                </a:solidFill>
                <a:latin typeface="Helvetica Neue"/>
                <a:ea typeface="Helvetica Neue"/>
                <a:cs typeface="Helvetica Neue"/>
              </a:rPr>
              <a:t>  --query "Exact Title" --result 1 --ep 1 --lang sub</a:t>
            </a:r>
          </a:p>
        </p:txBody>
      </p:sp>
      <p:sp>
        <p:nvSpPr>
          <p:cNvPr id="7" name="">
            <a:extLst xmlns:a="http://schemas.openxmlformats.org/drawingml/2006/main">
              <a:ext uri="{FF2B5EF4-FFF2-40B4-BE49-F238E27FC236}">
                <a16:creationId xmlns:a16="http://schemas.microsoft.com/office/drawing/2014/main" id="{10A1FC69-04EA-4815-A8A5-5460A25E2D4F}"/>
              </a:ext>
            </a:extLst>
          </p:cNvPr>
          <p:cNvSpPr>
            <a:spLocks xmlns:a="http://schemas.openxmlformats.org/drawingml/2006/main" noGrp="1"/>
          </p:cNvSpPr>
          <p:nvPr/>
        </p:nvSpPr>
        <p:spPr>
          <a:xfrm xmlns:a="http://schemas.openxmlformats.org/drawingml/2006/main">
            <a:off x="685800" y="54102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166"/>
                </a:solidFill>
                <a:latin typeface="Helvetica Neue"/>
                <a:ea typeface="Helvetica Neue"/>
                <a:cs typeface="Helvetica Neue"/>
              </a:defRPr>
            </a:pPr>
            <a:r>
              <a:rPr sz="1875" b="0">
                <a:solidFill>
                  <a:srgbClr val="566166"/>
                </a:solidFill>
                <a:latin typeface="Helvetica Neue"/>
                <a:ea typeface="Helvetica Neue"/>
                <a:cs typeface="Helvetica Neue"/>
              </a:rPr>
              <a:t>Run the second example as one terminal command.</a:t>
            </a:r>
          </a:p>
        </p:txBody>
      </p:sp>
    </p:spTree>
    <p:extLst>
      <p:ext uri="{BB962C8B-B14F-4D97-AF65-F5344CB8AC3E}">
        <p14:creationId xmlns:p14="http://schemas.microsoft.com/office/powerpoint/2010/main" val="19346606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F3D7E3-B9C1-45B2-A5ED-96E7F60EC1A9}"/>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Packaging and device import</a:t>
            </a:r>
          </a:p>
        </p:txBody>
      </p:sp>
      <p:sp>
        <p:nvSpPr>
          <p:cNvPr id="2" name="">
            <a:extLst xmlns:a="http://schemas.openxmlformats.org/drawingml/2006/main">
              <a:ext uri="{FF2B5EF4-FFF2-40B4-BE49-F238E27FC236}">
                <a16:creationId xmlns:a16="http://schemas.microsoft.com/office/drawing/2014/main" id="{BE49D4C9-BD5F-4244-9168-A03529F9AA39}"/>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EE5013F9-8FAD-414F-8B58-5700B5583B9A}"/>
              </a:ext>
            </a:extLst>
          </p:cNvPr>
          <p:cNvSpPr>
            <a:spLocks xmlns:a="http://schemas.openxmlformats.org/drawingml/2006/main" noGrp="1"/>
          </p:cNvSpPr>
          <p:nvPr/>
        </p:nvSpPr>
        <p:spPr>
          <a:xfrm xmlns:a="http://schemas.openxmlformats.org/drawingml/2006/main">
            <a:off x="685800" y="18383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9"/>
                </a:solidFill>
                <a:latin typeface="Helvetica Neue"/>
                <a:ea typeface="Helvetica Neue"/>
                <a:cs typeface="Helvetica Neue"/>
              </a:defRPr>
            </a:pPr>
            <a:r>
              <a:rPr sz="2400" b="1">
                <a:solidFill>
                  <a:srgbClr val="087F89"/>
                </a:solidFill>
                <a:latin typeface="Helvetica Neue"/>
                <a:ea typeface="Helvetica Neue"/>
                <a:cs typeface="Helvetica Neue"/>
              </a:rPr>
              <a:t>node templates/package.cjs --dir MyModule</a:t>
            </a:r>
          </a:p>
          <a:p xmlns:a="http://schemas.openxmlformats.org/drawingml/2006/main">
            <a:pPr>
              <a:defRPr sz="2400" b="1">
                <a:solidFill>
                  <a:srgbClr val="087F89"/>
                </a:solidFill>
                <a:latin typeface="Helvetica Neue"/>
                <a:ea typeface="Helvetica Neue"/>
                <a:cs typeface="Helvetica Neue"/>
              </a:defRPr>
            </a:pPr>
            <a:r>
              <a:rPr sz="2400" b="1">
                <a:solidFill>
                  <a:srgbClr val="087F89"/>
                </a:solidFill>
                <a:latin typeface="Helvetica Neue"/>
                <a:ea typeface="Helvetica Neue"/>
                <a:cs typeface="Helvetica Neue"/>
              </a:rPr>
              <a:t>  --version 1.0.0-beta.1</a:t>
            </a:r>
          </a:p>
        </p:txBody>
      </p:sp>
      <p:sp>
        <p:nvSpPr>
          <p:cNvPr id="4" name="">
            <a:extLst xmlns:a="http://schemas.openxmlformats.org/drawingml/2006/main">
              <a:ext uri="{FF2B5EF4-FFF2-40B4-BE49-F238E27FC236}">
                <a16:creationId xmlns:a16="http://schemas.microsoft.com/office/drawing/2014/main" id="{4B111FDA-EBF2-4C9A-BFC8-1489E3B418C0}"/>
              </a:ext>
            </a:extLst>
          </p:cNvPr>
          <p:cNvSpPr>
            <a:spLocks xmlns:a="http://schemas.openxmlformats.org/drawingml/2006/main" noGrp="1"/>
          </p:cNvSpPr>
          <p:nvPr/>
        </p:nvSpPr>
        <p:spPr>
          <a:xfrm xmlns:a="http://schemas.openxmlformats.org/drawingml/2006/main">
            <a:off x="685800" y="3448050"/>
            <a:ext cx="10572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The ZIP and SHA-256 appear in MyModule/dist/.</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Transfer the module ZIP to your test device.</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Open Settings, then Media &amp; Sources and file/package import.</a:t>
            </a:r>
          </a:p>
          <a:p xmlns:a="http://schemas.openxmlformats.org/drawingml/2006/main">
            <a:pPr>
              <a:defRPr sz="2250" b="0">
                <a:solidFill>
                  <a:srgbClr val="15191B"/>
                </a:solidFill>
                <a:latin typeface="Helvetica Neue"/>
                <a:ea typeface="Helvetica Neue"/>
                <a:cs typeface="Helvetica Neue"/>
              </a:defRPr>
            </a:pPr>
            <a:r>
              <a:rPr sz="2250" b="0">
                <a:solidFill>
                  <a:srgbClr val="15191B"/>
                </a:solidFill>
                <a:latin typeface="Helvetica Neue"/>
                <a:ea typeface="Helvetica Neue"/>
                <a:cs typeface="Helvetica Neue"/>
              </a:rPr>
              <a:t>Select the source and verify its version before testing.</a:t>
            </a:r>
          </a:p>
        </p:txBody>
      </p:sp>
    </p:spTree>
    <p:extLst>
      <p:ext uri="{BB962C8B-B14F-4D97-AF65-F5344CB8AC3E}">
        <p14:creationId xmlns:p14="http://schemas.microsoft.com/office/powerpoint/2010/main" val="138120933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F7B416-48ED-44D3-A906-9EE468358716}"/>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Common failures and next checks</a:t>
            </a:r>
          </a:p>
        </p:txBody>
      </p:sp>
      <p:sp>
        <p:nvSpPr>
          <p:cNvPr id="2" name="">
            <a:extLst xmlns:a="http://schemas.openxmlformats.org/drawingml/2006/main">
              <a:ext uri="{FF2B5EF4-FFF2-40B4-BE49-F238E27FC236}">
                <a16:creationId xmlns:a16="http://schemas.microsoft.com/office/drawing/2014/main" id="{A32677D6-1C37-49FB-BD81-00F189C6E96F}"/>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20</a:t>
            </a:r>
          </a:p>
        </p:txBody>
      </p:sp>
      <p:sp>
        <p:nvSpPr>
          <p:cNvPr id="3" name="">
            <a:extLst xmlns:a="http://schemas.openxmlformats.org/drawingml/2006/main">
              <a:ext uri="{FF2B5EF4-FFF2-40B4-BE49-F238E27FC236}">
                <a16:creationId xmlns:a16="http://schemas.microsoft.com/office/drawing/2014/main" id="{E9D738A1-7062-4A87-9D76-73BBAD5DB857}"/>
              </a:ext>
            </a:extLst>
          </p:cNvPr>
          <p:cNvSpPr>
            <a:spLocks xmlns:a="http://schemas.openxmlformats.org/drawingml/2006/main" noGrp="1"/>
          </p:cNvSpPr>
          <p:nvPr/>
        </p:nvSpPr>
        <p:spPr>
          <a:xfrm xmlns:a="http://schemas.openxmlformats.org/drawingml/2006/main">
            <a:off x="685800" y="17621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Empty homepage</a:t>
            </a:r>
          </a:p>
        </p:txBody>
      </p:sp>
      <p:sp>
        <p:nvSpPr>
          <p:cNvPr id="4" name="">
            <a:extLst xmlns:a="http://schemas.openxmlformats.org/drawingml/2006/main">
              <a:ext uri="{FF2B5EF4-FFF2-40B4-BE49-F238E27FC236}">
                <a16:creationId xmlns:a16="http://schemas.microsoft.com/office/drawing/2014/main" id="{F0C819BC-ADC4-4E5B-8225-E01C1D2AA5A1}"/>
              </a:ext>
            </a:extLst>
          </p:cNvPr>
          <p:cNvSpPr>
            <a:spLocks xmlns:a="http://schemas.openxmlformats.org/drawingml/2006/main" noGrp="1"/>
          </p:cNvSpPr>
          <p:nvPr/>
        </p:nvSpPr>
        <p:spPr>
          <a:xfrm xmlns:a="http://schemas.openxmlformats.org/drawingml/2006/main">
            <a:off x="3762375" y="17621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Check discovery output, capability flags, IDs and pagination.</a:t>
            </a:r>
          </a:p>
        </p:txBody>
      </p:sp>
      <p:sp>
        <p:nvSpPr>
          <p:cNvPr id="5" name="">
            <a:extLst xmlns:a="http://schemas.openxmlformats.org/drawingml/2006/main">
              <a:ext uri="{FF2B5EF4-FFF2-40B4-BE49-F238E27FC236}">
                <a16:creationId xmlns:a16="http://schemas.microsoft.com/office/drawing/2014/main" id="{EA70A02F-661C-4DEF-946A-4425DCB52281}"/>
              </a:ext>
            </a:extLst>
          </p:cNvPr>
          <p:cNvSpPr>
            <a:spLocks xmlns:a="http://schemas.openxmlformats.org/drawingml/2006/main" noGrp="1"/>
          </p:cNvSpPr>
          <p:nvPr/>
        </p:nvSpPr>
        <p:spPr>
          <a:xfrm xmlns:a="http://schemas.openxmlformats.org/drawingml/2006/main">
            <a:off x="685800" y="2809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Wrong episode</a:t>
            </a:r>
          </a:p>
        </p:txBody>
      </p:sp>
      <p:sp>
        <p:nvSpPr>
          <p:cNvPr id="6" name="">
            <a:extLst xmlns:a="http://schemas.openxmlformats.org/drawingml/2006/main">
              <a:ext uri="{FF2B5EF4-FFF2-40B4-BE49-F238E27FC236}">
                <a16:creationId xmlns:a16="http://schemas.microsoft.com/office/drawing/2014/main" id="{664C6E16-A740-4788-98C6-D086BD6803DD}"/>
              </a:ext>
            </a:extLst>
          </p:cNvPr>
          <p:cNvSpPr>
            <a:spLocks xmlns:a="http://schemas.openxmlformats.org/drawingml/2006/main" noGrp="1"/>
          </p:cNvSpPr>
          <p:nvPr/>
        </p:nvSpPr>
        <p:spPr>
          <a:xfrm xmlns:a="http://schemas.openxmlformats.org/drawingml/2006/main">
            <a:off x="3762375" y="28098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Compare exact identity and ordering against the source.</a:t>
            </a:r>
          </a:p>
        </p:txBody>
      </p:sp>
      <p:sp>
        <p:nvSpPr>
          <p:cNvPr id="7" name="">
            <a:extLst xmlns:a="http://schemas.openxmlformats.org/drawingml/2006/main">
              <a:ext uri="{FF2B5EF4-FFF2-40B4-BE49-F238E27FC236}">
                <a16:creationId xmlns:a16="http://schemas.microsoft.com/office/drawing/2014/main" id="{929E6CFA-C308-4986-86A8-BFFFF6DD1AF8}"/>
              </a:ext>
            </a:extLst>
          </p:cNvPr>
          <p:cNvSpPr>
            <a:spLocks xmlns:a="http://schemas.openxmlformats.org/drawingml/2006/main" noGrp="1"/>
          </p:cNvSpPr>
          <p:nvPr/>
        </p:nvSpPr>
        <p:spPr>
          <a:xfrm xmlns:a="http://schemas.openxmlformats.org/drawingml/2006/main">
            <a:off x="685800" y="3857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URL but no video</a:t>
            </a:r>
          </a:p>
        </p:txBody>
      </p:sp>
      <p:sp>
        <p:nvSpPr>
          <p:cNvPr id="8" name="">
            <a:extLst xmlns:a="http://schemas.openxmlformats.org/drawingml/2006/main">
              <a:ext uri="{FF2B5EF4-FFF2-40B4-BE49-F238E27FC236}">
                <a16:creationId xmlns:a16="http://schemas.microsoft.com/office/drawing/2014/main" id="{C9174B70-4D08-47D4-B3D4-9A4D6C91B5DD}"/>
              </a:ext>
            </a:extLst>
          </p:cNvPr>
          <p:cNvSpPr>
            <a:spLocks xmlns:a="http://schemas.openxmlformats.org/drawingml/2006/main" noGrp="1"/>
          </p:cNvSpPr>
          <p:nvPr/>
        </p:nvSpPr>
        <p:spPr>
          <a:xfrm xmlns:a="http://schemas.openxmlformats.org/drawingml/2006/main">
            <a:off x="3762375" y="38576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Check headers, expiry, actual bytes and native decoder behavior.</a:t>
            </a:r>
          </a:p>
        </p:txBody>
      </p:sp>
      <p:sp>
        <p:nvSpPr>
          <p:cNvPr id="9" name="">
            <a:extLst xmlns:a="http://schemas.openxmlformats.org/drawingml/2006/main">
              <a:ext uri="{FF2B5EF4-FFF2-40B4-BE49-F238E27FC236}">
                <a16:creationId xmlns:a16="http://schemas.microsoft.com/office/drawing/2014/main" id="{DEB68FE6-0DDF-4C62-87A0-4766E0E55765}"/>
              </a:ext>
            </a:extLst>
          </p:cNvPr>
          <p:cNvSpPr>
            <a:spLocks xmlns:a="http://schemas.openxmlformats.org/drawingml/2006/main" noGrp="1"/>
          </p:cNvSpPr>
          <p:nvPr/>
        </p:nvSpPr>
        <p:spPr>
          <a:xfrm xmlns:a="http://schemas.openxmlformats.org/drawingml/2006/main">
            <a:off x="685800" y="49053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9"/>
                </a:solidFill>
                <a:latin typeface="Helvetica Neue"/>
                <a:ea typeface="Helvetica Neue"/>
                <a:cs typeface="Helvetica Neue"/>
              </a:defRPr>
            </a:pPr>
            <a:r>
              <a:rPr sz="2175" b="1">
                <a:solidFill>
                  <a:srgbClr val="087F89"/>
                </a:solidFill>
                <a:latin typeface="Helvetica Neue"/>
                <a:ea typeface="Helvetica Neue"/>
                <a:cs typeface="Helvetica Neue"/>
              </a:rPr>
              <a:t>Works on my PC</a:t>
            </a:r>
          </a:p>
        </p:txBody>
      </p:sp>
      <p:sp>
        <p:nvSpPr>
          <p:cNvPr id="10" name="">
            <a:extLst xmlns:a="http://schemas.openxmlformats.org/drawingml/2006/main">
              <a:ext uri="{FF2B5EF4-FFF2-40B4-BE49-F238E27FC236}">
                <a16:creationId xmlns:a16="http://schemas.microsoft.com/office/drawing/2014/main" id="{33D91667-C85F-47EB-B778-CF25E958430B}"/>
              </a:ext>
            </a:extLst>
          </p:cNvPr>
          <p:cNvSpPr>
            <a:spLocks xmlns:a="http://schemas.openxmlformats.org/drawingml/2006/main" noGrp="1"/>
          </p:cNvSpPr>
          <p:nvPr/>
        </p:nvSpPr>
        <p:spPr>
          <a:xfrm xmlns:a="http://schemas.openxmlformats.org/drawingml/2006/main">
            <a:off x="3762375" y="490537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91B"/>
                </a:solidFill>
                <a:latin typeface="Helvetica Neue"/>
                <a:ea typeface="Helvetica Neue"/>
                <a:cs typeface="Helvetica Neue"/>
              </a:defRPr>
            </a:pPr>
            <a:r>
              <a:rPr sz="2100" b="0">
                <a:solidFill>
                  <a:srgbClr val="15191B"/>
                </a:solidFill>
                <a:latin typeface="Helvetica Neue"/>
                <a:ea typeface="Helvetica Neue"/>
                <a:cs typeface="Helvetica Neue"/>
              </a:rPr>
              <a:t>Repeat on the target app/device and record the failing layer.</a:t>
            </a:r>
          </a:p>
        </p:txBody>
      </p:sp>
    </p:spTree>
    <p:extLst>
      <p:ext uri="{BB962C8B-B14F-4D97-AF65-F5344CB8AC3E}">
        <p14:creationId xmlns:p14="http://schemas.microsoft.com/office/powerpoint/2010/main" val="58031231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4AB0DF-922B-4C48-84C4-B263E77FE57B}"/>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The handoff before release</a:t>
            </a:r>
          </a:p>
        </p:txBody>
      </p:sp>
      <p:sp>
        <p:nvSpPr>
          <p:cNvPr id="2" name="">
            <a:extLst xmlns:a="http://schemas.openxmlformats.org/drawingml/2006/main">
              <a:ext uri="{FF2B5EF4-FFF2-40B4-BE49-F238E27FC236}">
                <a16:creationId xmlns:a16="http://schemas.microsoft.com/office/drawing/2014/main" id="{016803D1-F516-49DC-864C-D7871FF3CB3F}"/>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D7256881-A084-48F8-86D9-9338EA61D319}"/>
              </a:ext>
            </a:extLst>
          </p:cNvPr>
          <p:cNvSpPr>
            <a:spLocks xmlns:a="http://schemas.openxmlformats.org/drawingml/2006/main" noGrp="1"/>
          </p:cNvSpPr>
          <p:nvPr/>
        </p:nvSpPr>
        <p:spPr>
          <a:xfrm xmlns:a="http://schemas.openxmlformats.org/drawingml/2006/main">
            <a:off x="685800" y="19050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87F89"/>
                </a:solidFill>
                <a:latin typeface="Helvetica Neue"/>
                <a:ea typeface="Helvetica Neue"/>
                <a:cs typeface="Helvetica Neue"/>
              </a:defRPr>
            </a:pPr>
            <a:r>
              <a:rPr sz="3075" b="1">
                <a:solidFill>
                  <a:srgbClr val="087F89"/>
                </a:solidFill>
                <a:latin typeface="Helvetica Neue"/>
                <a:ea typeface="Helvetica Neue"/>
                <a:cs typeface="Helvetica Neue"/>
              </a:rPr>
              <a:t>Module ZIP + version + SHA-256</a:t>
            </a:r>
          </a:p>
        </p:txBody>
      </p:sp>
      <p:sp>
        <p:nvSpPr>
          <p:cNvPr id="4" name="">
            <a:extLst xmlns:a="http://schemas.openxmlformats.org/drawingml/2006/main">
              <a:ext uri="{FF2B5EF4-FFF2-40B4-BE49-F238E27FC236}">
                <a16:creationId xmlns:a16="http://schemas.microsoft.com/office/drawing/2014/main" id="{441FBC7A-CEC2-4419-91A2-11F79CD2BEE5}"/>
              </a:ext>
            </a:extLst>
          </p:cNvPr>
          <p:cNvSpPr>
            <a:spLocks xmlns:a="http://schemas.openxmlformats.org/drawingml/2006/main" noGrp="1"/>
          </p:cNvSpPr>
          <p:nvPr/>
        </p:nvSpPr>
        <p:spPr>
          <a:xfrm xmlns:a="http://schemas.openxmlformats.org/drawingml/2006/main">
            <a:off x="685800" y="3086100"/>
            <a:ext cx="105727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191B"/>
                </a:solidFill>
                <a:latin typeface="Helvetica Neue"/>
                <a:ea typeface="Helvetica Neue"/>
                <a:cs typeface="Helvetica Neue"/>
              </a:defRPr>
            </a:pPr>
            <a:r>
              <a:rPr sz="2325" b="0">
                <a:solidFill>
                  <a:srgbClr val="15191B"/>
                </a:solidFill>
                <a:latin typeface="Helvetica Neue"/>
                <a:ea typeface="Helvetica Neue"/>
                <a:cs typeface="Helvetica Neue"/>
              </a:rPr>
              <a:t>Attempted, passed, failed and blocked cases</a:t>
            </a:r>
          </a:p>
          <a:p xmlns:a="http://schemas.openxmlformats.org/drawingml/2006/main">
            <a:pPr>
              <a:defRPr sz="2325" b="0">
                <a:solidFill>
                  <a:srgbClr val="15191B"/>
                </a:solidFill>
                <a:latin typeface="Helvetica Neue"/>
                <a:ea typeface="Helvetica Neue"/>
                <a:cs typeface="Helvetica Neue"/>
              </a:defRPr>
            </a:pPr>
            <a:r>
              <a:rPr sz="2325" b="0">
                <a:solidFill>
                  <a:srgbClr val="15191B"/>
                </a:solidFill>
                <a:latin typeface="Helvetica Neue"/>
                <a:ea typeface="Helvetica Neue"/>
                <a:cs typeface="Helvetica Neue"/>
              </a:rPr>
              <a:t>Exact app versions and devices tested</a:t>
            </a:r>
          </a:p>
          <a:p xmlns:a="http://schemas.openxmlformats.org/drawingml/2006/main">
            <a:pPr>
              <a:defRPr sz="2325" b="0">
                <a:solidFill>
                  <a:srgbClr val="15191B"/>
                </a:solidFill>
                <a:latin typeface="Helvetica Neue"/>
                <a:ea typeface="Helvetica Neue"/>
                <a:cs typeface="Helvetica Neue"/>
              </a:defRPr>
            </a:pPr>
            <a:r>
              <a:rPr sz="2325" b="0">
                <a:solidFill>
                  <a:srgbClr val="15191B"/>
                </a:solidFill>
                <a:latin typeface="Helvetica Neue"/>
                <a:ea typeface="Helvetica Neue"/>
                <a:cs typeface="Helvetica Neue"/>
              </a:rPr>
              <a:t>Known limitations and a regression case for each fix</a:t>
            </a:r>
          </a:p>
          <a:p xmlns:a="http://schemas.openxmlformats.org/drawingml/2006/main">
            <a:pPr>
              <a:defRPr sz="2325" b="0">
                <a:solidFill>
                  <a:srgbClr val="15191B"/>
                </a:solidFill>
                <a:latin typeface="Helvetica Neue"/>
                <a:ea typeface="Helvetica Neue"/>
                <a:cs typeface="Helvetica Neue"/>
              </a:defRPr>
            </a:pPr>
            <a:r>
              <a:rPr sz="2325" b="0">
                <a:solidFill>
                  <a:srgbClr val="15191B"/>
                </a:solidFill>
                <a:latin typeface="Helvetica Neue"/>
                <a:ea typeface="Helvetica Neue"/>
                <a:cs typeface="Helvetica Neue"/>
              </a:rPr>
              <a:t>Maintainer approval before testing-catalogue or public release</a:t>
            </a:r>
          </a:p>
        </p:txBody>
      </p:sp>
    </p:spTree>
    <p:extLst>
      <p:ext uri="{BB962C8B-B14F-4D97-AF65-F5344CB8AC3E}">
        <p14:creationId xmlns:p14="http://schemas.microsoft.com/office/powerpoint/2010/main" val="98071950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189E12-0F2F-44BA-9089-682B080A4DE9}"/>
              </a:ext>
            </a:extLst>
          </p:cNvPr>
          <p:cNvSpPr>
            <a:spLocks xmlns:a="http://schemas.openxmlformats.org/drawingml/2006/main" noGrp="1"/>
          </p:cNvSpPr>
          <p:nvPr/>
        </p:nvSpPr>
        <p:spPr>
          <a:xfrm xmlns:a="http://schemas.openxmlformats.org/drawingml/2006/main">
            <a:off x="6858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191B"/>
                </a:solidFill>
                <a:latin typeface="Helvetica Neue"/>
                <a:ea typeface="Helvetica Neue"/>
                <a:cs typeface="Helvetica Neue"/>
              </a:defRPr>
            </a:pPr>
            <a:r>
              <a:rPr sz="3450" b="1">
                <a:solidFill>
                  <a:srgbClr val="15191B"/>
                </a:solidFill>
                <a:latin typeface="Helvetica Neue"/>
                <a:ea typeface="Helvetica Neue"/>
                <a:cs typeface="Helvetica Neue"/>
              </a:rPr>
              <a:t>Ready for the workshop</a:t>
            </a:r>
          </a:p>
        </p:txBody>
      </p:sp>
      <p:sp>
        <p:nvSpPr>
          <p:cNvPr id="2" name="">
            <a:extLst xmlns:a="http://schemas.openxmlformats.org/drawingml/2006/main">
              <a:ext uri="{FF2B5EF4-FFF2-40B4-BE49-F238E27FC236}">
                <a16:creationId xmlns:a16="http://schemas.microsoft.com/office/drawing/2014/main" id="{E35D174C-2E32-48F3-AA9A-1A29500C0F40}"/>
              </a:ext>
            </a:extLst>
          </p:cNvPr>
          <p:cNvSpPr>
            <a:spLocks xmlns:a="http://schemas.openxmlformats.org/drawingml/2006/main" noGrp="1"/>
          </p:cNvSpPr>
          <p:nvPr/>
        </p:nvSpPr>
        <p:spPr>
          <a:xfrm xmlns:a="http://schemas.openxmlformats.org/drawingml/2006/main">
            <a:off x="10953750" y="62579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166"/>
                </a:solidFill>
                <a:latin typeface="Helvetica Neue"/>
                <a:ea typeface="Helvetica Neue"/>
                <a:cs typeface="Helvetica Neue"/>
              </a:defRPr>
            </a:pPr>
            <a:r>
              <a:rPr sz="1350" b="0">
                <a:solidFill>
                  <a:srgbClr val="566166"/>
                </a:solidFill>
                <a:latin typeface="Helvetica Neue"/>
                <a:ea typeface="Helvetica Neue"/>
                <a:cs typeface="Helvetica Neue"/>
              </a:rPr>
              <a:t>22</a:t>
            </a:r>
          </a:p>
        </p:txBody>
      </p:sp>
      <p:sp>
        <p:nvSpPr>
          <p:cNvPr id="3" name="">
            <a:extLst xmlns:a="http://schemas.openxmlformats.org/drawingml/2006/main">
              <a:ext uri="{FF2B5EF4-FFF2-40B4-BE49-F238E27FC236}">
                <a16:creationId xmlns:a16="http://schemas.microsoft.com/office/drawing/2014/main" id="{A7B4FB4B-74CD-4E95-B64A-FD505270AABB}"/>
              </a:ext>
            </a:extLst>
          </p:cNvPr>
          <p:cNvSpPr>
            <a:spLocks xmlns:a="http://schemas.openxmlformats.org/drawingml/2006/main" noGrp="1"/>
          </p:cNvSpPr>
          <p:nvPr/>
        </p:nvSpPr>
        <p:spPr>
          <a:xfrm xmlns:a="http://schemas.openxmlformats.org/drawingml/2006/main">
            <a:off x="685800" y="1952625"/>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5191B"/>
                </a:solidFill>
                <a:latin typeface="Helvetica Neue"/>
                <a:ea typeface="Helvetica Neue"/>
                <a:cs typeface="Helvetica Neue"/>
              </a:defRPr>
            </a:pPr>
            <a:r>
              <a:rPr sz="3675" b="1">
                <a:solidFill>
                  <a:srgbClr val="15191B"/>
                </a:solidFill>
                <a:latin typeface="Helvetica Neue"/>
                <a:ea typeface="Helvetica Neue"/>
                <a:cs typeface="Helvetica Neue"/>
              </a:rPr>
              <a:t>Choose one agent.</a:t>
            </a:r>
          </a:p>
          <a:p xmlns:a="http://schemas.openxmlformats.org/drawingml/2006/main">
            <a:pPr>
              <a:defRPr sz="3675" b="1">
                <a:solidFill>
                  <a:srgbClr val="15191B"/>
                </a:solidFill>
                <a:latin typeface="Helvetica Neue"/>
                <a:ea typeface="Helvetica Neue"/>
                <a:cs typeface="Helvetica Neue"/>
              </a:defRPr>
            </a:pPr>
            <a:r>
              <a:rPr sz="3675" b="1">
                <a:solidFill>
                  <a:srgbClr val="15191B"/>
                </a:solidFill>
                <a:latin typeface="Helvetica Neue"/>
                <a:ea typeface="Helvetica Neue"/>
                <a:cs typeface="Helvetica Neue"/>
              </a:rPr>
              <a:t>Choose one authorized source.</a:t>
            </a:r>
          </a:p>
          <a:p xmlns:a="http://schemas.openxmlformats.org/drawingml/2006/main">
            <a:pPr>
              <a:defRPr sz="3675" b="1">
                <a:solidFill>
                  <a:srgbClr val="15191B"/>
                </a:solidFill>
                <a:latin typeface="Helvetica Neue"/>
                <a:ea typeface="Helvetica Neue"/>
                <a:cs typeface="Helvetica Neue"/>
              </a:defRPr>
            </a:pPr>
            <a:r>
              <a:rPr sz="3675" b="1">
                <a:solidFill>
                  <a:srgbClr val="15191B"/>
                </a:solidFill>
                <a:latin typeface="Helvetica Neue"/>
                <a:ea typeface="Helvetica Neue"/>
                <a:cs typeface="Helvetica Neue"/>
              </a:rPr>
              <a:t>Complete one verified flow.</a:t>
            </a:r>
          </a:p>
        </p:txBody>
      </p:sp>
      <p:sp>
        <p:nvSpPr>
          <p:cNvPr id="4" name="">
            <a:extLst xmlns:a="http://schemas.openxmlformats.org/drawingml/2006/main">
              <a:ext uri="{FF2B5EF4-FFF2-40B4-BE49-F238E27FC236}">
                <a16:creationId xmlns:a16="http://schemas.microsoft.com/office/drawing/2014/main" id="{CFE2157D-0805-4AD5-8F06-796123730C8F}"/>
              </a:ext>
            </a:extLst>
          </p:cNvPr>
          <p:cNvSpPr>
            <a:spLocks xmlns:a="http://schemas.openxmlformats.org/drawingml/2006/main" noGrp="1"/>
          </p:cNvSpPr>
          <p:nvPr/>
        </p:nvSpPr>
        <p:spPr>
          <a:xfrm xmlns:a="http://schemas.openxmlformats.org/drawingml/2006/main">
            <a:off x="685800" y="49053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87F89"/>
                </a:solidFill>
                <a:latin typeface="Helvetica Neue"/>
                <a:ea typeface="Helvetica Neue"/>
                <a:cs typeface="Helvetica Neue"/>
              </a:defRPr>
            </a:pPr>
            <a:r>
              <a:rPr sz="2175" b="0">
                <a:solidFill>
                  <a:srgbClr val="087F89"/>
                </a:solidFill>
                <a:latin typeface="Helvetica Neue"/>
                <a:ea typeface="Helvetica Neue"/>
                <a:cs typeface="Helvetica Neue"/>
              </a:rPr>
              <a:t>Start with README.md and docs/07-agent-setup.md.</a:t>
            </a:r>
          </a:p>
          <a:p xmlns:a="http://schemas.openxmlformats.org/drawingml/2006/main">
            <a:pPr>
              <a:defRPr sz="2175" b="0">
                <a:solidFill>
                  <a:srgbClr val="087F89"/>
                </a:solidFill>
                <a:latin typeface="Helvetica Neue"/>
                <a:ea typeface="Helvetica Neue"/>
                <a:cs typeface="Helvetica Neue"/>
              </a:defRPr>
            </a:pPr>
            <a:r>
              <a:rPr sz="2175" b="0">
                <a:solidFill>
                  <a:srgbClr val="087F89"/>
                </a:solidFill>
                <a:latin typeface="Helvetica Neue"/>
                <a:ea typeface="Helvetica Neue"/>
                <a:cs typeface="Helvetica Neue"/>
              </a:rPr>
              <a:t>Use prompts/01-research.md for the first conversation.</a:t>
            </a:r>
          </a:p>
        </p:txBody>
      </p:sp>
    </p:spTree>
    <p:extLst>
      <p:ext uri="{BB962C8B-B14F-4D97-AF65-F5344CB8AC3E}">
        <p14:creationId xmlns:p14="http://schemas.microsoft.com/office/powerpoint/2010/main" val="2381494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2026-09-17T13:23:22.1430000Z</dcterms:created>
  <dcterms:modified xsi:type="dcterms:W3CDTF">2026-09-17T13:23:22.1430000Z</dcterms:modified>
</coreProperties>
</file>